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109728"/>
          </a:xfrm>
          <a:prstGeom prst="rect">
            <a:avLst/>
          </a:prstGeom>
          <a:solidFill>
            <a:srgbClr val="C0392B"/>
          </a:solidFill>
          <a:ln w="12700">
            <a:solidFill>
              <a:srgbClr val="C0392B"/>
            </a:solidFill>
            <a:prstDash val="solid"/>
          </a:ln>
        </p:spPr>
      </p:sp>
      <p:sp>
        <p:nvSpPr>
          <p:cNvPr id="3" name="Text 1"/>
          <p:cNvSpPr/>
          <p:nvPr/>
        </p:nvSpPr>
        <p:spPr>
          <a:xfrm>
            <a:off x="3931920" y="548640"/>
            <a:ext cx="1280160" cy="1097280"/>
          </a:xfrm>
          <a:prstGeom prst="rect">
            <a:avLst/>
          </a:prstGeom>
          <a:noFill/>
          <a:ln/>
        </p:spPr>
        <p:txBody>
          <a:bodyPr wrap="square" rtlCol="0" anchor="ctr"/>
          <a:lstStyle/>
          <a:p>
            <a:pPr algn="ctr" indent="0" marL="0">
              <a:buNone/>
            </a:pPr>
            <a:r>
              <a:rPr lang="en-US" sz="5200" dirty="0">
                <a:solidFill>
                  <a:srgbClr val="000000"/>
                </a:solidFill>
              </a:rPr>
              <a:t>🛡️</a:t>
            </a:r>
            <a:endParaRPr lang="en-US" sz="5200" dirty="0"/>
          </a:p>
        </p:txBody>
      </p:sp>
      <p:sp>
        <p:nvSpPr>
          <p:cNvPr id="4" name="Text 2"/>
          <p:cNvSpPr/>
          <p:nvPr/>
        </p:nvSpPr>
        <p:spPr>
          <a:xfrm>
            <a:off x="548640" y="1554480"/>
            <a:ext cx="8046720" cy="914400"/>
          </a:xfrm>
          <a:prstGeom prst="rect">
            <a:avLst/>
          </a:prstGeom>
          <a:noFill/>
          <a:ln/>
        </p:spPr>
        <p:txBody>
          <a:bodyPr wrap="square" rtlCol="0" anchor="ctr"/>
          <a:lstStyle/>
          <a:p>
            <a:pPr algn="ctr" indent="0" marL="0">
              <a:buNone/>
            </a:pPr>
            <a:r>
              <a:rPr lang="en-US" sz="3800" b="1" dirty="0">
                <a:solidFill>
                  <a:srgbClr val="FFFFFF"/>
                </a:solidFill>
                <a:latin typeface="Georgia" pitchFamily="34" charset="0"/>
                <a:ea typeface="Georgia" pitchFamily="34" charset="-122"/>
                <a:cs typeface="Georgia" pitchFamily="34" charset="-120"/>
              </a:rPr>
              <a:t>UK Scam Message Detector</a:t>
            </a:r>
            <a:endParaRPr lang="en-US" sz="3800" dirty="0"/>
          </a:p>
        </p:txBody>
      </p:sp>
      <p:sp>
        <p:nvSpPr>
          <p:cNvPr id="5" name="Text 3"/>
          <p:cNvSpPr/>
          <p:nvPr/>
        </p:nvSpPr>
        <p:spPr>
          <a:xfrm>
            <a:off x="548640" y="2423160"/>
            <a:ext cx="8046720" cy="457200"/>
          </a:xfrm>
          <a:prstGeom prst="rect">
            <a:avLst/>
          </a:prstGeom>
          <a:noFill/>
          <a:ln/>
        </p:spPr>
        <p:txBody>
          <a:bodyPr wrap="square" rtlCol="0" anchor="ctr"/>
          <a:lstStyle/>
          <a:p>
            <a:pPr algn="ctr" indent="0" marL="0">
              <a:buNone/>
            </a:pPr>
            <a:r>
              <a:rPr lang="en-US" sz="2000" dirty="0">
                <a:solidFill>
                  <a:srgbClr val="A9CCE3"/>
                </a:solidFill>
                <a:latin typeface="Calibri" pitchFamily="34" charset="0"/>
                <a:ea typeface="Calibri" pitchFamily="34" charset="-122"/>
                <a:cs typeface="Calibri" pitchFamily="34" charset="-120"/>
              </a:rPr>
              <a:t>Using Naive Bayes Machine Learning</a:t>
            </a:r>
            <a:endParaRPr lang="en-US" sz="2000" dirty="0"/>
          </a:p>
        </p:txBody>
      </p:sp>
      <p:sp>
        <p:nvSpPr>
          <p:cNvPr id="6" name="Shape 4"/>
          <p:cNvSpPr/>
          <p:nvPr/>
        </p:nvSpPr>
        <p:spPr>
          <a:xfrm>
            <a:off x="548640" y="3200400"/>
            <a:ext cx="1828800" cy="1325880"/>
          </a:xfrm>
          <a:prstGeom prst="rect">
            <a:avLst/>
          </a:prstGeom>
          <a:solidFill>
            <a:srgbClr val="FFFFFF">
              <a:alpha val="12000"/>
            </a:srgbClr>
          </a:solidFill>
          <a:ln w="12700">
            <a:solidFill>
              <a:srgbClr val="FFFFFF">
                <a:alpha val="40000"/>
              </a:srgbClr>
            </a:solidFill>
            <a:prstDash val="solid"/>
          </a:ln>
        </p:spPr>
      </p:sp>
      <p:sp>
        <p:nvSpPr>
          <p:cNvPr id="7" name="Text 5"/>
          <p:cNvSpPr/>
          <p:nvPr/>
        </p:nvSpPr>
        <p:spPr>
          <a:xfrm>
            <a:off x="548640" y="3273552"/>
            <a:ext cx="1828800" cy="65836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100%</a:t>
            </a:r>
            <a:endParaRPr lang="en-US" sz="2800" dirty="0"/>
          </a:p>
        </p:txBody>
      </p:sp>
      <p:sp>
        <p:nvSpPr>
          <p:cNvPr id="8" name="Text 6"/>
          <p:cNvSpPr/>
          <p:nvPr/>
        </p:nvSpPr>
        <p:spPr>
          <a:xfrm>
            <a:off x="548640" y="3895344"/>
            <a:ext cx="1828800" cy="320040"/>
          </a:xfrm>
          <a:prstGeom prst="rect">
            <a:avLst/>
          </a:prstGeom>
          <a:noFill/>
          <a:ln/>
        </p:spPr>
        <p:txBody>
          <a:bodyPr wrap="square" rtlCol="0" anchor="ctr"/>
          <a:lstStyle/>
          <a:p>
            <a:pPr algn="ctr" indent="0" marL="0">
              <a:buNone/>
            </a:pPr>
            <a:r>
              <a:rPr lang="en-US" sz="1200" dirty="0">
                <a:solidFill>
                  <a:srgbClr val="A9CCE3"/>
                </a:solidFill>
                <a:latin typeface="Calibri" pitchFamily="34" charset="0"/>
                <a:ea typeface="Calibri" pitchFamily="34" charset="-122"/>
                <a:cs typeface="Calibri" pitchFamily="34" charset="-120"/>
              </a:rPr>
              <a:t>Accuracy</a:t>
            </a:r>
            <a:endParaRPr lang="en-US" sz="1200" dirty="0"/>
          </a:p>
        </p:txBody>
      </p:sp>
      <p:sp>
        <p:nvSpPr>
          <p:cNvPr id="9" name="Shape 7"/>
          <p:cNvSpPr/>
          <p:nvPr/>
        </p:nvSpPr>
        <p:spPr>
          <a:xfrm>
            <a:off x="2560320" y="3200400"/>
            <a:ext cx="1828800" cy="1325880"/>
          </a:xfrm>
          <a:prstGeom prst="rect">
            <a:avLst/>
          </a:prstGeom>
          <a:solidFill>
            <a:srgbClr val="FFFFFF">
              <a:alpha val="12000"/>
            </a:srgbClr>
          </a:solidFill>
          <a:ln w="12700">
            <a:solidFill>
              <a:srgbClr val="FFFFFF">
                <a:alpha val="40000"/>
              </a:srgbClr>
            </a:solidFill>
            <a:prstDash val="solid"/>
          </a:ln>
        </p:spPr>
      </p:sp>
      <p:sp>
        <p:nvSpPr>
          <p:cNvPr id="10" name="Text 8"/>
          <p:cNvSpPr/>
          <p:nvPr/>
        </p:nvSpPr>
        <p:spPr>
          <a:xfrm>
            <a:off x="2560320" y="3273552"/>
            <a:ext cx="1828800" cy="65836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101</a:t>
            </a:r>
            <a:endParaRPr lang="en-US" sz="2800" dirty="0"/>
          </a:p>
        </p:txBody>
      </p:sp>
      <p:sp>
        <p:nvSpPr>
          <p:cNvPr id="11" name="Text 9"/>
          <p:cNvSpPr/>
          <p:nvPr/>
        </p:nvSpPr>
        <p:spPr>
          <a:xfrm>
            <a:off x="2560320" y="3895344"/>
            <a:ext cx="1828800" cy="320040"/>
          </a:xfrm>
          <a:prstGeom prst="rect">
            <a:avLst/>
          </a:prstGeom>
          <a:noFill/>
          <a:ln/>
        </p:spPr>
        <p:txBody>
          <a:bodyPr wrap="square" rtlCol="0" anchor="ctr"/>
          <a:lstStyle/>
          <a:p>
            <a:pPr algn="ctr" indent="0" marL="0">
              <a:buNone/>
            </a:pPr>
            <a:r>
              <a:rPr lang="en-US" sz="1200" dirty="0">
                <a:solidFill>
                  <a:srgbClr val="A9CCE3"/>
                </a:solidFill>
                <a:latin typeface="Calibri" pitchFamily="34" charset="0"/>
                <a:ea typeface="Calibri" pitchFamily="34" charset="-122"/>
                <a:cs typeface="Calibri" pitchFamily="34" charset="-120"/>
              </a:rPr>
              <a:t>UK Messages</a:t>
            </a:r>
            <a:endParaRPr lang="en-US" sz="1200" dirty="0"/>
          </a:p>
        </p:txBody>
      </p:sp>
      <p:sp>
        <p:nvSpPr>
          <p:cNvPr id="12" name="Shape 10"/>
          <p:cNvSpPr/>
          <p:nvPr/>
        </p:nvSpPr>
        <p:spPr>
          <a:xfrm>
            <a:off x="4572000" y="3200400"/>
            <a:ext cx="1828800" cy="1325880"/>
          </a:xfrm>
          <a:prstGeom prst="rect">
            <a:avLst/>
          </a:prstGeom>
          <a:solidFill>
            <a:srgbClr val="FFFFFF">
              <a:alpha val="12000"/>
            </a:srgbClr>
          </a:solidFill>
          <a:ln w="12700">
            <a:solidFill>
              <a:srgbClr val="FFFFFF">
                <a:alpha val="40000"/>
              </a:srgbClr>
            </a:solidFill>
            <a:prstDash val="solid"/>
          </a:ln>
        </p:spPr>
      </p:sp>
      <p:sp>
        <p:nvSpPr>
          <p:cNvPr id="13" name="Text 11"/>
          <p:cNvSpPr/>
          <p:nvPr/>
        </p:nvSpPr>
        <p:spPr>
          <a:xfrm>
            <a:off x="4572000" y="3273552"/>
            <a:ext cx="1828800" cy="65836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100%</a:t>
            </a:r>
            <a:endParaRPr lang="en-US" sz="2800" dirty="0"/>
          </a:p>
        </p:txBody>
      </p:sp>
      <p:sp>
        <p:nvSpPr>
          <p:cNvPr id="14" name="Text 12"/>
          <p:cNvSpPr/>
          <p:nvPr/>
        </p:nvSpPr>
        <p:spPr>
          <a:xfrm>
            <a:off x="4572000" y="3895344"/>
            <a:ext cx="1828800" cy="320040"/>
          </a:xfrm>
          <a:prstGeom prst="rect">
            <a:avLst/>
          </a:prstGeom>
          <a:noFill/>
          <a:ln/>
        </p:spPr>
        <p:txBody>
          <a:bodyPr wrap="square" rtlCol="0" anchor="ctr"/>
          <a:lstStyle/>
          <a:p>
            <a:pPr algn="ctr" indent="0" marL="0">
              <a:buNone/>
            </a:pPr>
            <a:r>
              <a:rPr lang="en-US" sz="1200" dirty="0">
                <a:solidFill>
                  <a:srgbClr val="A9CCE3"/>
                </a:solidFill>
                <a:latin typeface="Calibri" pitchFamily="34" charset="0"/>
                <a:ea typeface="Calibri" pitchFamily="34" charset="-122"/>
                <a:cs typeface="Calibri" pitchFamily="34" charset="-120"/>
              </a:rPr>
              <a:t>Fraud Detected</a:t>
            </a:r>
            <a:endParaRPr lang="en-US" sz="1200" dirty="0"/>
          </a:p>
        </p:txBody>
      </p:sp>
      <p:sp>
        <p:nvSpPr>
          <p:cNvPr id="15" name="Shape 13"/>
          <p:cNvSpPr/>
          <p:nvPr/>
        </p:nvSpPr>
        <p:spPr>
          <a:xfrm>
            <a:off x="6583680" y="3200400"/>
            <a:ext cx="1828800" cy="1325880"/>
          </a:xfrm>
          <a:prstGeom prst="rect">
            <a:avLst/>
          </a:prstGeom>
          <a:solidFill>
            <a:srgbClr val="FFFFFF">
              <a:alpha val="12000"/>
            </a:srgbClr>
          </a:solidFill>
          <a:ln w="12700">
            <a:solidFill>
              <a:srgbClr val="FFFFFF">
                <a:alpha val="40000"/>
              </a:srgbClr>
            </a:solidFill>
            <a:prstDash val="solid"/>
          </a:ln>
        </p:spPr>
      </p:sp>
      <p:sp>
        <p:nvSpPr>
          <p:cNvPr id="16" name="Text 14"/>
          <p:cNvSpPr/>
          <p:nvPr/>
        </p:nvSpPr>
        <p:spPr>
          <a:xfrm>
            <a:off x="6583680" y="3273552"/>
            <a:ext cx="1828800" cy="658368"/>
          </a:xfrm>
          <a:prstGeom prst="rect">
            <a:avLst/>
          </a:prstGeom>
          <a:noFill/>
          <a:ln/>
        </p:spPr>
        <p:txBody>
          <a:bodyPr wrap="square" rtlCol="0" anchor="ctr"/>
          <a:lstStyle/>
          <a:p>
            <a:pPr algn="ctr" indent="0" marL="0">
              <a:buNone/>
            </a:pPr>
            <a:r>
              <a:rPr lang="en-US" sz="2800" b="1" dirty="0">
                <a:solidFill>
                  <a:srgbClr val="FFFFFF"/>
                </a:solidFill>
                <a:latin typeface="Georgia" pitchFamily="34" charset="0"/>
                <a:ea typeface="Georgia" pitchFamily="34" charset="-122"/>
                <a:cs typeface="Georgia" pitchFamily="34" charset="-120"/>
              </a:rPr>
              <a:t>10/10</a:t>
            </a:r>
            <a:endParaRPr lang="en-US" sz="2800" dirty="0"/>
          </a:p>
        </p:txBody>
      </p:sp>
      <p:sp>
        <p:nvSpPr>
          <p:cNvPr id="17" name="Text 15"/>
          <p:cNvSpPr/>
          <p:nvPr/>
        </p:nvSpPr>
        <p:spPr>
          <a:xfrm>
            <a:off x="6583680" y="3895344"/>
            <a:ext cx="1828800" cy="320040"/>
          </a:xfrm>
          <a:prstGeom prst="rect">
            <a:avLst/>
          </a:prstGeom>
          <a:noFill/>
          <a:ln/>
        </p:spPr>
        <p:txBody>
          <a:bodyPr wrap="square" rtlCol="0" anchor="ctr"/>
          <a:lstStyle/>
          <a:p>
            <a:pPr algn="ctr" indent="0" marL="0">
              <a:buNone/>
            </a:pPr>
            <a:r>
              <a:rPr lang="en-US" sz="1200" dirty="0">
                <a:solidFill>
                  <a:srgbClr val="A9CCE3"/>
                </a:solidFill>
                <a:latin typeface="Calibri" pitchFamily="34" charset="0"/>
                <a:ea typeface="Calibri" pitchFamily="34" charset="-122"/>
                <a:cs typeface="Calibri" pitchFamily="34" charset="-120"/>
              </a:rPr>
              <a:t>New Messages</a:t>
            </a:r>
            <a:endParaRPr lang="en-US" sz="1200" dirty="0"/>
          </a:p>
        </p:txBody>
      </p:sp>
      <p:sp>
        <p:nvSpPr>
          <p:cNvPr id="18" name="Text 16"/>
          <p:cNvSpPr/>
          <p:nvPr/>
        </p:nvSpPr>
        <p:spPr>
          <a:xfrm>
            <a:off x="548640" y="4663440"/>
            <a:ext cx="8046720" cy="320040"/>
          </a:xfrm>
          <a:prstGeom prst="rect">
            <a:avLst/>
          </a:prstGeom>
          <a:noFill/>
          <a:ln/>
        </p:spPr>
        <p:txBody>
          <a:bodyPr wrap="square" rtlCol="0" anchor="ctr"/>
          <a:lstStyle/>
          <a:p>
            <a:pPr algn="ctr" indent="0" marL="0">
              <a:buNone/>
            </a:pPr>
            <a:r>
              <a:rPr lang="en-US" sz="1100" i="1" dirty="0">
                <a:solidFill>
                  <a:srgbClr val="7FB3D3"/>
                </a:solidFill>
                <a:latin typeface="Calibri" pitchFamily="34" charset="0"/>
                <a:ea typeface="Calibri" pitchFamily="34" charset="-122"/>
                <a:cs typeface="Calibri" pitchFamily="34" charset="-120"/>
              </a:rPr>
              <a:t>🇬🇧  Developed for the UK Market  ·  Algorithm by Thomas Bayes (British, 1701–1761)</a:t>
            </a:r>
            <a:endParaRPr lang="en-US" sz="1100" dirty="0"/>
          </a:p>
        </p:txBody>
      </p:sp>
      <p:sp>
        <p:nvSpPr>
          <p:cNvPr id="19" name="Shape 17"/>
          <p:cNvSpPr/>
          <p:nvPr/>
        </p:nvSpPr>
        <p:spPr>
          <a:xfrm>
            <a:off x="0" y="5029200"/>
            <a:ext cx="9144000" cy="114300"/>
          </a:xfrm>
          <a:prstGeom prst="rect">
            <a:avLst/>
          </a:prstGeom>
          <a:solidFill>
            <a:srgbClr val="C0392B"/>
          </a:solidFill>
          <a:ln w="12700">
            <a:solidFill>
              <a:srgbClr val="C0392B"/>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228600"/>
            <a:ext cx="8229600" cy="5943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Problem</a:t>
            </a:r>
            <a:endParaRPr lang="en-US" sz="3000" dirty="0"/>
          </a:p>
        </p:txBody>
      </p:sp>
      <p:sp>
        <p:nvSpPr>
          <p:cNvPr id="4" name="Text 2"/>
          <p:cNvSpPr/>
          <p:nvPr/>
        </p:nvSpPr>
        <p:spPr>
          <a:xfrm>
            <a:off x="457200" y="777240"/>
            <a:ext cx="8229600" cy="411480"/>
          </a:xfrm>
          <a:prstGeom prst="rect">
            <a:avLst/>
          </a:prstGeom>
          <a:noFill/>
          <a:ln/>
        </p:spPr>
        <p:txBody>
          <a:bodyPr wrap="square" rtlCol="0" anchor="ctr"/>
          <a:lstStyle/>
          <a:p>
            <a:pPr indent="0" marL="0">
              <a:buNone/>
            </a:pPr>
            <a:r>
              <a:rPr lang="en-US" sz="1500" i="1" dirty="0">
                <a:solidFill>
                  <a:srgbClr val="6C757D"/>
                </a:solidFill>
                <a:latin typeface="Calibri" pitchFamily="34" charset="0"/>
                <a:ea typeface="Calibri" pitchFamily="34" charset="-122"/>
                <a:cs typeface="Calibri" pitchFamily="34" charset="-120"/>
              </a:rPr>
              <a:t>UK fraud costs £2.3 billion every year — and fraudulent messages are the primary entry point</a:t>
            </a:r>
            <a:endParaRPr lang="en-US" sz="1500" dirty="0"/>
          </a:p>
        </p:txBody>
      </p:sp>
      <p:sp>
        <p:nvSpPr>
          <p:cNvPr id="5" name="Shape 3"/>
          <p:cNvSpPr/>
          <p:nvPr/>
        </p:nvSpPr>
        <p:spPr>
          <a:xfrm>
            <a:off x="365760" y="1417320"/>
            <a:ext cx="5029200" cy="713232"/>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6" name="Text 4"/>
          <p:cNvSpPr/>
          <p:nvPr/>
        </p:nvSpPr>
        <p:spPr>
          <a:xfrm>
            <a:off x="502920" y="1508760"/>
            <a:ext cx="548640" cy="53035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7" name="Text 5"/>
          <p:cNvSpPr/>
          <p:nvPr/>
        </p:nvSpPr>
        <p:spPr>
          <a:xfrm>
            <a:off x="1097280" y="1490472"/>
            <a:ext cx="41148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HMRC Scams</a:t>
            </a:r>
            <a:endParaRPr lang="en-US" sz="1300" dirty="0"/>
          </a:p>
        </p:txBody>
      </p:sp>
      <p:sp>
        <p:nvSpPr>
          <p:cNvPr id="8" name="Text 6"/>
          <p:cNvSpPr/>
          <p:nvPr/>
        </p:nvSpPr>
        <p:spPr>
          <a:xfrm>
            <a:off x="1097280" y="1746504"/>
            <a:ext cx="4114800" cy="329184"/>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Fraudulent tax refund claims or legal threats impersonating the UK tax authority</a:t>
            </a:r>
            <a:endParaRPr lang="en-US" sz="1100" dirty="0"/>
          </a:p>
        </p:txBody>
      </p:sp>
      <p:sp>
        <p:nvSpPr>
          <p:cNvPr id="9" name="Shape 7"/>
          <p:cNvSpPr/>
          <p:nvPr/>
        </p:nvSpPr>
        <p:spPr>
          <a:xfrm>
            <a:off x="365760" y="2258568"/>
            <a:ext cx="5029200" cy="713232"/>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0" name="Text 8"/>
          <p:cNvSpPr/>
          <p:nvPr/>
        </p:nvSpPr>
        <p:spPr>
          <a:xfrm>
            <a:off x="502920" y="2350008"/>
            <a:ext cx="548640" cy="53035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1" name="Text 9"/>
          <p:cNvSpPr/>
          <p:nvPr/>
        </p:nvSpPr>
        <p:spPr>
          <a:xfrm>
            <a:off x="1097280" y="2331720"/>
            <a:ext cx="41148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Royal Mail / Evri</a:t>
            </a:r>
            <a:endParaRPr lang="en-US" sz="1300" dirty="0"/>
          </a:p>
        </p:txBody>
      </p:sp>
      <p:sp>
        <p:nvSpPr>
          <p:cNvPr id="12" name="Text 10"/>
          <p:cNvSpPr/>
          <p:nvPr/>
        </p:nvSpPr>
        <p:spPr>
          <a:xfrm>
            <a:off x="1097280" y="2587752"/>
            <a:ext cx="4114800" cy="329184"/>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Fraudulent parcel delivery messages requesting £1–3 fees via fraudulent links</a:t>
            </a:r>
            <a:endParaRPr lang="en-US" sz="1100" dirty="0"/>
          </a:p>
        </p:txBody>
      </p:sp>
      <p:sp>
        <p:nvSpPr>
          <p:cNvPr id="13" name="Shape 11"/>
          <p:cNvSpPr/>
          <p:nvPr/>
        </p:nvSpPr>
        <p:spPr>
          <a:xfrm>
            <a:off x="365760" y="3099816"/>
            <a:ext cx="5029200" cy="713232"/>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4" name="Text 12"/>
          <p:cNvSpPr/>
          <p:nvPr/>
        </p:nvSpPr>
        <p:spPr>
          <a:xfrm>
            <a:off x="502920" y="3191256"/>
            <a:ext cx="548640" cy="53035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5" name="Text 13"/>
          <p:cNvSpPr/>
          <p:nvPr/>
        </p:nvSpPr>
        <p:spPr>
          <a:xfrm>
            <a:off x="1097280" y="3172968"/>
            <a:ext cx="41148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Bank Fraud Alerts</a:t>
            </a:r>
            <a:endParaRPr lang="en-US" sz="1300" dirty="0"/>
          </a:p>
        </p:txBody>
      </p:sp>
      <p:sp>
        <p:nvSpPr>
          <p:cNvPr id="16" name="Text 14"/>
          <p:cNvSpPr/>
          <p:nvPr/>
        </p:nvSpPr>
        <p:spPr>
          <a:xfrm>
            <a:off x="1097280" y="3429000"/>
            <a:ext cx="4114800" cy="329184"/>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Impersonating Barclays, Lloyds, Halifax with fabricated account suspension warnings</a:t>
            </a:r>
            <a:endParaRPr lang="en-US" sz="1100" dirty="0"/>
          </a:p>
        </p:txBody>
      </p:sp>
      <p:sp>
        <p:nvSpPr>
          <p:cNvPr id="17" name="Shape 15"/>
          <p:cNvSpPr/>
          <p:nvPr/>
        </p:nvSpPr>
        <p:spPr>
          <a:xfrm>
            <a:off x="365760" y="3941064"/>
            <a:ext cx="5029200" cy="713232"/>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8" name="Text 16"/>
          <p:cNvSpPr/>
          <p:nvPr/>
        </p:nvSpPr>
        <p:spPr>
          <a:xfrm>
            <a:off x="502920" y="4032504"/>
            <a:ext cx="548640" cy="530352"/>
          </a:xfrm>
          <a:prstGeom prst="rect">
            <a:avLst/>
          </a:prstGeom>
          <a:noFill/>
          <a:ln/>
        </p:spPr>
        <p:txBody>
          <a:bodyPr wrap="square" rtlCol="0" anchor="ctr"/>
          <a:lstStyle/>
          <a:p>
            <a:pPr algn="ctr" indent="0" marL="0">
              <a:buNone/>
            </a:pPr>
            <a:r>
              <a:rPr lang="en-US" sz="2200" dirty="0">
                <a:solidFill>
                  <a:srgbClr val="000000"/>
                </a:solidFill>
              </a:rPr>
              <a:t>🚗</a:t>
            </a:r>
            <a:endParaRPr lang="en-US" sz="2200" dirty="0"/>
          </a:p>
        </p:txBody>
      </p:sp>
      <p:sp>
        <p:nvSpPr>
          <p:cNvPr id="19" name="Text 17"/>
          <p:cNvSpPr/>
          <p:nvPr/>
        </p:nvSpPr>
        <p:spPr>
          <a:xfrm>
            <a:off x="1097280" y="4014216"/>
            <a:ext cx="4114800" cy="274320"/>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DVLA Threats</a:t>
            </a:r>
            <a:endParaRPr lang="en-US" sz="1300" dirty="0"/>
          </a:p>
        </p:txBody>
      </p:sp>
      <p:sp>
        <p:nvSpPr>
          <p:cNvPr id="20" name="Text 18"/>
          <p:cNvSpPr/>
          <p:nvPr/>
        </p:nvSpPr>
        <p:spPr>
          <a:xfrm>
            <a:off x="1097280" y="4270248"/>
            <a:ext cx="4114800" cy="329184"/>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Fraudulent vehicle tax demands threatening fines and court proceedings</a:t>
            </a:r>
            <a:endParaRPr lang="en-US" sz="1100" dirty="0"/>
          </a:p>
        </p:txBody>
      </p:sp>
      <p:sp>
        <p:nvSpPr>
          <p:cNvPr id="21" name="Shape 19"/>
          <p:cNvSpPr/>
          <p:nvPr/>
        </p:nvSpPr>
        <p:spPr>
          <a:xfrm>
            <a:off x="5760720" y="1325880"/>
            <a:ext cx="3017520" cy="1828800"/>
          </a:xfrm>
          <a:prstGeom prst="rect">
            <a:avLst/>
          </a:prstGeom>
          <a:solidFill>
            <a:srgbClr val="C0392B"/>
          </a:solidFill>
          <a:ln w="12700">
            <a:solidFill>
              <a:srgbClr val="C0392B"/>
            </a:solidFill>
            <a:prstDash val="solid"/>
          </a:ln>
          <a:effectLst>
            <a:outerShdw sx="100000" sy="100000" kx="0" ky="0" algn="bl" rotWithShape="0" blurRad="76200" dist="38100" dir="8100000">
              <a:srgbClr val="000000">
                <a:alpha val="12000"/>
              </a:srgbClr>
            </a:outerShdw>
          </a:effectLst>
        </p:spPr>
      </p:sp>
      <p:sp>
        <p:nvSpPr>
          <p:cNvPr id="22" name="Text 20"/>
          <p:cNvSpPr/>
          <p:nvPr/>
        </p:nvSpPr>
        <p:spPr>
          <a:xfrm>
            <a:off x="5760720" y="1417320"/>
            <a:ext cx="3017520" cy="822960"/>
          </a:xfrm>
          <a:prstGeom prst="rect">
            <a:avLst/>
          </a:prstGeom>
          <a:noFill/>
          <a:ln/>
        </p:spPr>
        <p:txBody>
          <a:bodyPr wrap="square" rtlCol="0" anchor="ctr"/>
          <a:lstStyle/>
          <a:p>
            <a:pPr algn="ctr" indent="0" marL="0">
              <a:buNone/>
            </a:pPr>
            <a:r>
              <a:rPr lang="en-US" sz="4800" b="1" dirty="0">
                <a:solidFill>
                  <a:srgbClr val="FFFFFF"/>
                </a:solidFill>
                <a:latin typeface="Georgia" pitchFamily="34" charset="0"/>
                <a:ea typeface="Georgia" pitchFamily="34" charset="-122"/>
                <a:cs typeface="Georgia" pitchFamily="34" charset="-120"/>
              </a:rPr>
              <a:t>£2.3B</a:t>
            </a:r>
            <a:endParaRPr lang="en-US" sz="4800" dirty="0"/>
          </a:p>
        </p:txBody>
      </p:sp>
      <p:sp>
        <p:nvSpPr>
          <p:cNvPr id="23" name="Text 21"/>
          <p:cNvSpPr/>
          <p:nvPr/>
        </p:nvSpPr>
        <p:spPr>
          <a:xfrm>
            <a:off x="5760720" y="2194560"/>
            <a:ext cx="3017520" cy="640080"/>
          </a:xfrm>
          <a:prstGeom prst="rect">
            <a:avLst/>
          </a:prstGeom>
          <a:noFill/>
          <a:ln/>
        </p:spPr>
        <p:txBody>
          <a:bodyPr wrap="square" rtlCol="0" anchor="ctr"/>
          <a:lstStyle/>
          <a:p>
            <a:pPr algn="ctr" indent="0" marL="0">
              <a:buNone/>
            </a:pPr>
            <a:r>
              <a:rPr lang="en-US" sz="1400" dirty="0">
                <a:solidFill>
                  <a:srgbClr val="FFFFFF"/>
                </a:solidFill>
                <a:latin typeface="Calibri" pitchFamily="34" charset="0"/>
                <a:ea typeface="Calibri" pitchFamily="34" charset="-122"/>
                <a:cs typeface="Calibri" pitchFamily="34" charset="-120"/>
              </a:rPr>
              <a:t>lost to fraud</a:t>
            </a:r>
            <a:endParaRPr lang="en-US" sz="1400" dirty="0"/>
          </a:p>
          <a:p>
            <a:pPr algn="ctr" indent="0" marL="0">
              <a:buNone/>
            </a:pPr>
            <a:r>
              <a:rPr lang="en-US" sz="1400" dirty="0">
                <a:solidFill>
                  <a:srgbClr val="FFFFFF"/>
                </a:solidFill>
                <a:latin typeface="Calibri" pitchFamily="34" charset="0"/>
                <a:ea typeface="Calibri" pitchFamily="34" charset="-122"/>
                <a:cs typeface="Calibri" pitchFamily="34" charset="-120"/>
              </a:rPr>
              <a:t>in the UK (2023)</a:t>
            </a:r>
            <a:endParaRPr lang="en-US" sz="1400" dirty="0"/>
          </a:p>
        </p:txBody>
      </p:sp>
      <p:sp>
        <p:nvSpPr>
          <p:cNvPr id="24" name="Shape 22"/>
          <p:cNvSpPr/>
          <p:nvPr/>
        </p:nvSpPr>
        <p:spPr>
          <a:xfrm>
            <a:off x="5760720" y="3291840"/>
            <a:ext cx="3017520" cy="1691640"/>
          </a:xfrm>
          <a:prstGeom prst="rect">
            <a:avLst/>
          </a:prstGeom>
          <a:solidFill>
            <a:srgbClr val="1E2761"/>
          </a:solidFill>
          <a:ln w="12700">
            <a:solidFill>
              <a:srgbClr val="1E2761"/>
            </a:solidFill>
            <a:prstDash val="solid"/>
          </a:ln>
          <a:effectLst>
            <a:outerShdw sx="100000" sy="100000" kx="0" ky="0" algn="bl" rotWithShape="0" blurRad="76200" dist="38100" dir="8100000">
              <a:srgbClr val="000000">
                <a:alpha val="12000"/>
              </a:srgbClr>
            </a:outerShdw>
          </a:effectLst>
        </p:spPr>
      </p:sp>
      <p:sp>
        <p:nvSpPr>
          <p:cNvPr id="25" name="Text 23"/>
          <p:cNvSpPr/>
          <p:nvPr/>
        </p:nvSpPr>
        <p:spPr>
          <a:xfrm>
            <a:off x="5760720" y="3383280"/>
            <a:ext cx="3017520" cy="713232"/>
          </a:xfrm>
          <a:prstGeom prst="rect">
            <a:avLst/>
          </a:prstGeom>
          <a:noFill/>
          <a:ln/>
        </p:spPr>
        <p:txBody>
          <a:bodyPr wrap="square" rtlCol="0" anchor="ctr"/>
          <a:lstStyle/>
          <a:p>
            <a:pPr algn="ctr" indent="0" marL="0">
              <a:buNone/>
            </a:pPr>
            <a:r>
              <a:rPr lang="en-US" sz="4400" b="1" dirty="0">
                <a:solidFill>
                  <a:srgbClr val="FFFFFF"/>
                </a:solidFill>
                <a:latin typeface="Georgia" pitchFamily="34" charset="0"/>
                <a:ea typeface="Georgia" pitchFamily="34" charset="-122"/>
                <a:cs typeface="Georgia" pitchFamily="34" charset="-120"/>
              </a:rPr>
              <a:t>3.2M</a:t>
            </a:r>
            <a:endParaRPr lang="en-US" sz="4400" dirty="0"/>
          </a:p>
        </p:txBody>
      </p:sp>
      <p:sp>
        <p:nvSpPr>
          <p:cNvPr id="26" name="Text 24"/>
          <p:cNvSpPr/>
          <p:nvPr/>
        </p:nvSpPr>
        <p:spPr>
          <a:xfrm>
            <a:off x="5760720" y="4041648"/>
            <a:ext cx="3017520" cy="640080"/>
          </a:xfrm>
          <a:prstGeom prst="rect">
            <a:avLst/>
          </a:prstGeom>
          <a:noFill/>
          <a:ln/>
        </p:spPr>
        <p:txBody>
          <a:bodyPr wrap="square" rtlCol="0" anchor="ctr"/>
          <a:lstStyle/>
          <a:p>
            <a:pPr algn="ctr" indent="0" marL="0">
              <a:buNone/>
            </a:pPr>
            <a:r>
              <a:rPr lang="en-US" sz="1300" dirty="0">
                <a:solidFill>
                  <a:srgbClr val="A9CCE3"/>
                </a:solidFill>
                <a:latin typeface="Calibri" pitchFamily="34" charset="0"/>
                <a:ea typeface="Calibri" pitchFamily="34" charset="-122"/>
                <a:cs typeface="Calibri" pitchFamily="34" charset="-120"/>
              </a:rPr>
              <a:t>fraud cases</a:t>
            </a:r>
            <a:endParaRPr lang="en-US" sz="1300" dirty="0"/>
          </a:p>
          <a:p>
            <a:pPr algn="ctr" indent="0" marL="0">
              <a:buNone/>
            </a:pPr>
            <a:r>
              <a:rPr lang="en-US" sz="1300" dirty="0">
                <a:solidFill>
                  <a:srgbClr val="A9CCE3"/>
                </a:solidFill>
                <a:latin typeface="Calibri" pitchFamily="34" charset="0"/>
                <a:ea typeface="Calibri" pitchFamily="34" charset="-122"/>
                <a:cs typeface="Calibri" pitchFamily="34" charset="-120"/>
              </a:rPr>
              <a:t>reported (UK Finance)</a:t>
            </a:r>
            <a:endParaRPr lang="en-US" sz="1300" dirty="0"/>
          </a:p>
        </p:txBody>
      </p:sp>
      <p:sp>
        <p:nvSpPr>
          <p:cNvPr id="27" name="Shape 25"/>
          <p:cNvSpPr/>
          <p:nvPr/>
        </p:nvSpPr>
        <p:spPr>
          <a:xfrm>
            <a:off x="0" y="5029200"/>
            <a:ext cx="9144000" cy="114300"/>
          </a:xfrm>
          <a:prstGeom prst="rect">
            <a:avLst/>
          </a:prstGeom>
          <a:solidFill>
            <a:srgbClr val="1E2761"/>
          </a:solidFill>
          <a:ln w="12700">
            <a:solidFill>
              <a:srgbClr val="1E2761"/>
            </a:solidFill>
            <a:prstDash val="solid"/>
          </a:ln>
        </p:spPr>
      </p:sp>
      <p:sp>
        <p:nvSpPr>
          <p:cNvPr id="28" name="Text 26"/>
          <p:cNvSpPr/>
          <p:nvPr/>
        </p:nvSpPr>
        <p:spPr>
          <a:xfrm>
            <a:off x="365760" y="4892040"/>
            <a:ext cx="8412480" cy="201168"/>
          </a:xfrm>
          <a:prstGeom prst="rect">
            <a:avLst/>
          </a:prstGeom>
          <a:noFill/>
          <a:ln/>
        </p:spPr>
        <p:txBody>
          <a:bodyPr wrap="square" rtlCol="0" anchor="ctr"/>
          <a:lstStyle/>
          <a:p>
            <a:pPr algn="r" indent="0" marL="0">
              <a:buNone/>
            </a:pPr>
            <a:r>
              <a:rPr lang="en-US" sz="900" dirty="0">
                <a:solidFill>
                  <a:srgbClr val="6C757D"/>
                </a:solidFill>
                <a:latin typeface="Calibri" pitchFamily="34" charset="0"/>
                <a:ea typeface="Calibri" pitchFamily="34" charset="-122"/>
                <a:cs typeface="Calibri" pitchFamily="34" charset="-120"/>
              </a:rPr>
              <a:t>UK Scam Message Detector  ·  Machine Learning Project</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201168"/>
            <a:ext cx="8229600" cy="59436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What is Naive Bayes?</a:t>
            </a:r>
            <a:endParaRPr lang="en-US" sz="3000" dirty="0"/>
          </a:p>
        </p:txBody>
      </p:sp>
      <p:sp>
        <p:nvSpPr>
          <p:cNvPr id="4" name="Text 2"/>
          <p:cNvSpPr/>
          <p:nvPr/>
        </p:nvSpPr>
        <p:spPr>
          <a:xfrm>
            <a:off x="457200" y="749808"/>
            <a:ext cx="8229600" cy="365760"/>
          </a:xfrm>
          <a:prstGeom prst="rect">
            <a:avLst/>
          </a:prstGeom>
          <a:noFill/>
          <a:ln/>
        </p:spPr>
        <p:txBody>
          <a:bodyPr wrap="square" rtlCol="0" anchor="ctr"/>
          <a:lstStyle/>
          <a:p>
            <a:pPr indent="0" marL="0">
              <a:buNone/>
            </a:pPr>
            <a:r>
              <a:rPr lang="en-US" sz="1400" i="1" dirty="0">
                <a:solidFill>
                  <a:srgbClr val="6C757D"/>
                </a:solidFill>
                <a:latin typeface="Calibri" pitchFamily="34" charset="0"/>
                <a:ea typeface="Calibri" pitchFamily="34" charset="-122"/>
                <a:cs typeface="Calibri" pitchFamily="34" charset="-120"/>
              </a:rPr>
              <a:t>A clear, accessible explanation of the algorithm</a:t>
            </a:r>
            <a:endParaRPr lang="en-US" sz="1400" dirty="0"/>
          </a:p>
        </p:txBody>
      </p:sp>
      <p:sp>
        <p:nvSpPr>
          <p:cNvPr id="5" name="Shape 3"/>
          <p:cNvSpPr/>
          <p:nvPr/>
        </p:nvSpPr>
        <p:spPr>
          <a:xfrm>
            <a:off x="365760" y="1234440"/>
            <a:ext cx="5120640" cy="1417320"/>
          </a:xfrm>
          <a:prstGeom prst="rect">
            <a:avLst/>
          </a:prstGeom>
          <a:solidFill>
            <a:srgbClr val="E8EEF8"/>
          </a:solidFill>
          <a:ln w="12700">
            <a:solidFill>
              <a:srgbClr val="A9CCE3"/>
            </a:solidFill>
            <a:prstDash val="solid"/>
          </a:ln>
          <a:effectLst>
            <a:outerShdw sx="100000" sy="100000" kx="0" ky="0" algn="bl" rotWithShape="0" blurRad="76200" dist="38100" dir="8100000">
              <a:srgbClr val="000000">
                <a:alpha val="12000"/>
              </a:srgbClr>
            </a:outerShdw>
          </a:effectLst>
        </p:spPr>
      </p:sp>
      <p:sp>
        <p:nvSpPr>
          <p:cNvPr id="6" name="Text 4"/>
          <p:cNvSpPr/>
          <p:nvPr/>
        </p:nvSpPr>
        <p:spPr>
          <a:xfrm>
            <a:off x="548640" y="1298448"/>
            <a:ext cx="475488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The Experienced Postal Worker — An Analogy</a:t>
            </a:r>
            <a:endParaRPr lang="en-US" sz="1300" dirty="0"/>
          </a:p>
        </p:txBody>
      </p:sp>
      <p:sp>
        <p:nvSpPr>
          <p:cNvPr id="7" name="Text 5"/>
          <p:cNvSpPr/>
          <p:nvPr/>
        </p:nvSpPr>
        <p:spPr>
          <a:xfrm>
            <a:off x="548640" y="1609344"/>
            <a:ext cx="4754880" cy="896112"/>
          </a:xfrm>
          <a:prstGeom prst="rect">
            <a:avLst/>
          </a:prstGeom>
          <a:noFill/>
          <a:ln/>
        </p:spPr>
        <p:txBody>
          <a:bodyPr wrap="square" rtlCol="0" anchor="ctr"/>
          <a:lstStyle/>
          <a:p>
            <a:pPr indent="0" marL="0">
              <a:buNone/>
            </a:pPr>
            <a:r>
              <a:rPr lang="en-US" sz="1150" dirty="0">
                <a:solidFill>
                  <a:srgbClr val="212529"/>
                </a:solidFill>
                <a:latin typeface="Calibri" pitchFamily="34" charset="0"/>
                <a:ea typeface="Calibri" pitchFamily="34" charset="-122"/>
                <a:cs typeface="Calibri" pitchFamily="34" charset="-120"/>
              </a:rPr>
              <a:t>Consider a postal worker who has processed thousands of letters. Over time, they learn to identify suspicious correspondence by recognising certain words — 'URGENT', 'claim', or unfamiliar web addresses. Naive Bayes applies exactly this principle using mathematical probability.</a:t>
            </a:r>
            <a:endParaRPr lang="en-US" sz="1150" dirty="0"/>
          </a:p>
        </p:txBody>
      </p:sp>
      <p:sp>
        <p:nvSpPr>
          <p:cNvPr id="8" name="Shape 6"/>
          <p:cNvSpPr/>
          <p:nvPr/>
        </p:nvSpPr>
        <p:spPr>
          <a:xfrm>
            <a:off x="365760" y="2834640"/>
            <a:ext cx="365760" cy="502920"/>
          </a:xfrm>
          <a:prstGeom prst="rect">
            <a:avLst/>
          </a:prstGeom>
          <a:solidFill>
            <a:srgbClr val="C0392B"/>
          </a:solidFill>
          <a:ln w="12700">
            <a:solidFill>
              <a:srgbClr val="C0392B"/>
            </a:solidFill>
            <a:prstDash val="solid"/>
          </a:ln>
        </p:spPr>
      </p:sp>
      <p:sp>
        <p:nvSpPr>
          <p:cNvPr id="9" name="Text 7"/>
          <p:cNvSpPr/>
          <p:nvPr/>
        </p:nvSpPr>
        <p:spPr>
          <a:xfrm>
            <a:off x="365760" y="2834640"/>
            <a:ext cx="365760" cy="502920"/>
          </a:xfrm>
          <a:prstGeom prst="rect">
            <a:avLst/>
          </a:prstGeom>
          <a:noFill/>
          <a:ln/>
        </p:spPr>
        <p:txBody>
          <a:bodyPr wrap="square" rtlCol="0" anchor="ctr"/>
          <a:lstStyle/>
          <a:p>
            <a:pPr algn="ctr" indent="0" marL="0">
              <a:buNone/>
            </a:pPr>
            <a:r>
              <a:rPr lang="en-US" sz="1600" b="1" dirty="0">
                <a:solidFill>
                  <a:srgbClr val="FFFFFF"/>
                </a:solidFill>
              </a:rPr>
              <a:t>1</a:t>
            </a:r>
            <a:endParaRPr lang="en-US" sz="1600" dirty="0"/>
          </a:p>
        </p:txBody>
      </p:sp>
      <p:sp>
        <p:nvSpPr>
          <p:cNvPr id="10" name="Text 8"/>
          <p:cNvSpPr/>
          <p:nvPr/>
        </p:nvSpPr>
        <p:spPr>
          <a:xfrm>
            <a:off x="822960" y="2852928"/>
            <a:ext cx="914400" cy="219456"/>
          </a:xfrm>
          <a:prstGeom prst="rect">
            <a:avLst/>
          </a:prstGeom>
          <a:noFill/>
          <a:ln/>
        </p:spPr>
        <p:txBody>
          <a:bodyPr wrap="square" rtlCol="0" anchor="ctr"/>
          <a:lstStyle/>
          <a:p>
            <a:pPr indent="0" marL="0">
              <a:buNone/>
            </a:pPr>
            <a:r>
              <a:rPr lang="en-US" sz="1100" b="1" dirty="0">
                <a:solidFill>
                  <a:srgbClr val="C0392B"/>
                </a:solidFill>
                <a:latin typeface="Calibri" pitchFamily="34" charset="0"/>
                <a:ea typeface="Calibri" pitchFamily="34" charset="-122"/>
                <a:cs typeface="Calibri" pitchFamily="34" charset="-120"/>
              </a:rPr>
              <a:t>LEARN</a:t>
            </a:r>
            <a:endParaRPr lang="en-US" sz="1100" dirty="0"/>
          </a:p>
        </p:txBody>
      </p:sp>
      <p:sp>
        <p:nvSpPr>
          <p:cNvPr id="11" name="Text 9"/>
          <p:cNvSpPr/>
          <p:nvPr/>
        </p:nvSpPr>
        <p:spPr>
          <a:xfrm>
            <a:off x="822960" y="3063240"/>
            <a:ext cx="8229600" cy="274320"/>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The model analyses 80 labelled messages and records which words appear in fraudulent versus legitimate messages.</a:t>
            </a:r>
            <a:endParaRPr lang="en-US" sz="1100" dirty="0"/>
          </a:p>
        </p:txBody>
      </p:sp>
      <p:sp>
        <p:nvSpPr>
          <p:cNvPr id="12" name="Shape 10"/>
          <p:cNvSpPr/>
          <p:nvPr/>
        </p:nvSpPr>
        <p:spPr>
          <a:xfrm>
            <a:off x="365760" y="3502152"/>
            <a:ext cx="365760" cy="502920"/>
          </a:xfrm>
          <a:prstGeom prst="rect">
            <a:avLst/>
          </a:prstGeom>
          <a:solidFill>
            <a:srgbClr val="D4AC0D"/>
          </a:solidFill>
          <a:ln w="12700">
            <a:solidFill>
              <a:srgbClr val="D4AC0D"/>
            </a:solidFill>
            <a:prstDash val="solid"/>
          </a:ln>
        </p:spPr>
      </p:sp>
      <p:sp>
        <p:nvSpPr>
          <p:cNvPr id="13" name="Text 11"/>
          <p:cNvSpPr/>
          <p:nvPr/>
        </p:nvSpPr>
        <p:spPr>
          <a:xfrm>
            <a:off x="365760" y="3502152"/>
            <a:ext cx="365760" cy="502920"/>
          </a:xfrm>
          <a:prstGeom prst="rect">
            <a:avLst/>
          </a:prstGeom>
          <a:noFill/>
          <a:ln/>
        </p:spPr>
        <p:txBody>
          <a:bodyPr wrap="square" rtlCol="0" anchor="ctr"/>
          <a:lstStyle/>
          <a:p>
            <a:pPr algn="ctr" indent="0" marL="0">
              <a:buNone/>
            </a:pPr>
            <a:r>
              <a:rPr lang="en-US" sz="1600" b="1" dirty="0">
                <a:solidFill>
                  <a:srgbClr val="FFFFFF"/>
                </a:solidFill>
              </a:rPr>
              <a:t>2</a:t>
            </a:r>
            <a:endParaRPr lang="en-US" sz="1600" dirty="0"/>
          </a:p>
        </p:txBody>
      </p:sp>
      <p:sp>
        <p:nvSpPr>
          <p:cNvPr id="14" name="Text 12"/>
          <p:cNvSpPr/>
          <p:nvPr/>
        </p:nvSpPr>
        <p:spPr>
          <a:xfrm>
            <a:off x="822960" y="3520440"/>
            <a:ext cx="914400" cy="219456"/>
          </a:xfrm>
          <a:prstGeom prst="rect">
            <a:avLst/>
          </a:prstGeom>
          <a:noFill/>
          <a:ln/>
        </p:spPr>
        <p:txBody>
          <a:bodyPr wrap="square" rtlCol="0" anchor="ctr"/>
          <a:lstStyle/>
          <a:p>
            <a:pPr indent="0" marL="0">
              <a:buNone/>
            </a:pPr>
            <a:r>
              <a:rPr lang="en-US" sz="1100" b="1" dirty="0">
                <a:solidFill>
                  <a:srgbClr val="D4AC0D"/>
                </a:solidFill>
                <a:latin typeface="Calibri" pitchFamily="34" charset="0"/>
                <a:ea typeface="Calibri" pitchFamily="34" charset="-122"/>
                <a:cs typeface="Calibri" pitchFamily="34" charset="-120"/>
              </a:rPr>
              <a:t>CALCULATE</a:t>
            </a:r>
            <a:endParaRPr lang="en-US" sz="1100" dirty="0"/>
          </a:p>
        </p:txBody>
      </p:sp>
      <p:sp>
        <p:nvSpPr>
          <p:cNvPr id="15" name="Text 13"/>
          <p:cNvSpPr/>
          <p:nvPr/>
        </p:nvSpPr>
        <p:spPr>
          <a:xfrm>
            <a:off x="822960" y="3730752"/>
            <a:ext cx="8229600" cy="274320"/>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Probability scores are assigned to every word. 'HMRC' appears in 60% of scam messages but only 2% of legitimate ones.</a:t>
            </a:r>
            <a:endParaRPr lang="en-US" sz="1100" dirty="0"/>
          </a:p>
        </p:txBody>
      </p:sp>
      <p:sp>
        <p:nvSpPr>
          <p:cNvPr id="16" name="Shape 14"/>
          <p:cNvSpPr/>
          <p:nvPr/>
        </p:nvSpPr>
        <p:spPr>
          <a:xfrm>
            <a:off x="365760" y="4169664"/>
            <a:ext cx="365760" cy="502920"/>
          </a:xfrm>
          <a:prstGeom prst="rect">
            <a:avLst/>
          </a:prstGeom>
          <a:solidFill>
            <a:srgbClr val="1E8449"/>
          </a:solidFill>
          <a:ln w="12700">
            <a:solidFill>
              <a:srgbClr val="1E8449"/>
            </a:solidFill>
            <a:prstDash val="solid"/>
          </a:ln>
        </p:spPr>
      </p:sp>
      <p:sp>
        <p:nvSpPr>
          <p:cNvPr id="17" name="Text 15"/>
          <p:cNvSpPr/>
          <p:nvPr/>
        </p:nvSpPr>
        <p:spPr>
          <a:xfrm>
            <a:off x="365760" y="4169664"/>
            <a:ext cx="365760" cy="502920"/>
          </a:xfrm>
          <a:prstGeom prst="rect">
            <a:avLst/>
          </a:prstGeom>
          <a:noFill/>
          <a:ln/>
        </p:spPr>
        <p:txBody>
          <a:bodyPr wrap="square" rtlCol="0" anchor="ctr"/>
          <a:lstStyle/>
          <a:p>
            <a:pPr algn="ctr" indent="0" marL="0">
              <a:buNone/>
            </a:pPr>
            <a:r>
              <a:rPr lang="en-US" sz="1600" b="1" dirty="0">
                <a:solidFill>
                  <a:srgbClr val="FFFFFF"/>
                </a:solidFill>
              </a:rPr>
              <a:t>3</a:t>
            </a:r>
            <a:endParaRPr lang="en-US" sz="1600" dirty="0"/>
          </a:p>
        </p:txBody>
      </p:sp>
      <p:sp>
        <p:nvSpPr>
          <p:cNvPr id="18" name="Text 16"/>
          <p:cNvSpPr/>
          <p:nvPr/>
        </p:nvSpPr>
        <p:spPr>
          <a:xfrm>
            <a:off x="822960" y="4187952"/>
            <a:ext cx="914400" cy="219456"/>
          </a:xfrm>
          <a:prstGeom prst="rect">
            <a:avLst/>
          </a:prstGeom>
          <a:noFill/>
          <a:ln/>
        </p:spPr>
        <p:txBody>
          <a:bodyPr wrap="square" rtlCol="0" anchor="ctr"/>
          <a:lstStyle/>
          <a:p>
            <a:pPr indent="0" marL="0">
              <a:buNone/>
            </a:pPr>
            <a:r>
              <a:rPr lang="en-US" sz="1100" b="1" dirty="0">
                <a:solidFill>
                  <a:srgbClr val="1E8449"/>
                </a:solidFill>
                <a:latin typeface="Calibri" pitchFamily="34" charset="0"/>
                <a:ea typeface="Calibri" pitchFamily="34" charset="-122"/>
                <a:cs typeface="Calibri" pitchFamily="34" charset="-120"/>
              </a:rPr>
              <a:t>PREDICT</a:t>
            </a:r>
            <a:endParaRPr lang="en-US" sz="1100" dirty="0"/>
          </a:p>
        </p:txBody>
      </p:sp>
      <p:sp>
        <p:nvSpPr>
          <p:cNvPr id="19" name="Text 17"/>
          <p:cNvSpPr/>
          <p:nvPr/>
        </p:nvSpPr>
        <p:spPr>
          <a:xfrm>
            <a:off x="822960" y="4398264"/>
            <a:ext cx="8229600" cy="274320"/>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A new message arrives. The model checks each word, calculates combined probabilities, and classifies it as SCAM or LEGITIMATE.</a:t>
            </a:r>
            <a:endParaRPr lang="en-US" sz="1100" dirty="0"/>
          </a:p>
        </p:txBody>
      </p:sp>
      <p:sp>
        <p:nvSpPr>
          <p:cNvPr id="20" name="Shape 18"/>
          <p:cNvSpPr/>
          <p:nvPr/>
        </p:nvSpPr>
        <p:spPr>
          <a:xfrm>
            <a:off x="5760720" y="1234440"/>
            <a:ext cx="3063240" cy="2606040"/>
          </a:xfrm>
          <a:prstGeom prst="rect">
            <a:avLst/>
          </a:prstGeom>
          <a:solidFill>
            <a:srgbClr val="1E2761"/>
          </a:solidFill>
          <a:ln w="12700">
            <a:solidFill>
              <a:srgbClr val="1E2761"/>
            </a:solidFill>
            <a:prstDash val="solid"/>
          </a:ln>
          <a:effectLst>
            <a:outerShdw sx="100000" sy="100000" kx="0" ky="0" algn="bl" rotWithShape="0" blurRad="76200" dist="38100" dir="8100000">
              <a:srgbClr val="000000">
                <a:alpha val="12000"/>
              </a:srgbClr>
            </a:outerShdw>
          </a:effectLst>
        </p:spPr>
      </p:sp>
      <p:sp>
        <p:nvSpPr>
          <p:cNvPr id="21" name="Text 19"/>
          <p:cNvSpPr/>
          <p:nvPr/>
        </p:nvSpPr>
        <p:spPr>
          <a:xfrm>
            <a:off x="5760720" y="1280160"/>
            <a:ext cx="3063240" cy="640080"/>
          </a:xfrm>
          <a:prstGeom prst="rect">
            <a:avLst/>
          </a:prstGeom>
          <a:noFill/>
          <a:ln/>
        </p:spPr>
        <p:txBody>
          <a:bodyPr wrap="square" rtlCol="0" anchor="ctr"/>
          <a:lstStyle/>
          <a:p>
            <a:pPr algn="ctr" indent="0" marL="0">
              <a:buNone/>
            </a:pPr>
            <a:r>
              <a:rPr lang="en-US" sz="3600" dirty="0">
                <a:solidFill>
                  <a:srgbClr val="000000"/>
                </a:solidFill>
              </a:rPr>
              <a:t>🎩</a:t>
            </a:r>
            <a:endParaRPr lang="en-US" sz="3600" dirty="0"/>
          </a:p>
        </p:txBody>
      </p:sp>
      <p:sp>
        <p:nvSpPr>
          <p:cNvPr id="22" name="Text 20"/>
          <p:cNvSpPr/>
          <p:nvPr/>
        </p:nvSpPr>
        <p:spPr>
          <a:xfrm>
            <a:off x="5760720" y="1883664"/>
            <a:ext cx="3063240" cy="384048"/>
          </a:xfrm>
          <a:prstGeom prst="rect">
            <a:avLst/>
          </a:prstGeom>
          <a:noFill/>
          <a:ln/>
        </p:spPr>
        <p:txBody>
          <a:bodyPr wrap="square"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Thomas Bayes</a:t>
            </a:r>
            <a:endParaRPr lang="en-US" sz="1600" dirty="0"/>
          </a:p>
        </p:txBody>
      </p:sp>
      <p:sp>
        <p:nvSpPr>
          <p:cNvPr id="23" name="Text 21"/>
          <p:cNvSpPr/>
          <p:nvPr/>
        </p:nvSpPr>
        <p:spPr>
          <a:xfrm>
            <a:off x="5760720" y="2231136"/>
            <a:ext cx="3063240" cy="594360"/>
          </a:xfrm>
          <a:prstGeom prst="rect">
            <a:avLst/>
          </a:prstGeom>
          <a:noFill/>
          <a:ln/>
        </p:spPr>
        <p:txBody>
          <a:bodyPr wrap="square" rtlCol="0" anchor="ctr"/>
          <a:lstStyle/>
          <a:p>
            <a:pPr algn="ctr" indent="0" marL="0">
              <a:buNone/>
            </a:pPr>
            <a:r>
              <a:rPr lang="en-US" sz="1200" dirty="0">
                <a:solidFill>
                  <a:srgbClr val="A9CCE3"/>
                </a:solidFill>
                <a:latin typeface="Calibri" pitchFamily="34" charset="0"/>
                <a:ea typeface="Calibri" pitchFamily="34" charset="-122"/>
                <a:cs typeface="Calibri" pitchFamily="34" charset="-120"/>
              </a:rPr>
              <a:t>British Statistician</a:t>
            </a:r>
            <a:endParaRPr lang="en-US" sz="1200" dirty="0"/>
          </a:p>
          <a:p>
            <a:pPr algn="ctr" indent="0" marL="0">
              <a:buNone/>
            </a:pPr>
            <a:r>
              <a:rPr lang="en-US" sz="1200" dirty="0">
                <a:solidFill>
                  <a:srgbClr val="A9CCE3"/>
                </a:solidFill>
                <a:latin typeface="Calibri" pitchFamily="34" charset="0"/>
                <a:ea typeface="Calibri" pitchFamily="34" charset="-122"/>
                <a:cs typeface="Calibri" pitchFamily="34" charset="-120"/>
              </a:rPr>
              <a:t>Tunbridge Wells, England</a:t>
            </a:r>
            <a:endParaRPr lang="en-US" sz="1200" dirty="0"/>
          </a:p>
          <a:p>
            <a:pPr algn="ctr" indent="0" marL="0">
              <a:buNone/>
            </a:pPr>
            <a:r>
              <a:rPr lang="en-US" sz="1200" dirty="0">
                <a:solidFill>
                  <a:srgbClr val="A9CCE3"/>
                </a:solidFill>
                <a:latin typeface="Calibri" pitchFamily="34" charset="0"/>
                <a:ea typeface="Calibri" pitchFamily="34" charset="-122"/>
                <a:cs typeface="Calibri" pitchFamily="34" charset="-120"/>
              </a:rPr>
              <a:t>1701 – 1761</a:t>
            </a:r>
            <a:endParaRPr lang="en-US" sz="1200" dirty="0"/>
          </a:p>
        </p:txBody>
      </p:sp>
      <p:sp>
        <p:nvSpPr>
          <p:cNvPr id="24" name="Text 22"/>
          <p:cNvSpPr/>
          <p:nvPr/>
        </p:nvSpPr>
        <p:spPr>
          <a:xfrm>
            <a:off x="5852160" y="2788920"/>
            <a:ext cx="2880360" cy="804672"/>
          </a:xfrm>
          <a:prstGeom prst="rect">
            <a:avLst/>
          </a:prstGeom>
          <a:noFill/>
          <a:ln/>
        </p:spPr>
        <p:txBody>
          <a:bodyPr wrap="square" rtlCol="0" anchor="ctr"/>
          <a:lstStyle/>
          <a:p>
            <a:pPr algn="ctr" indent="0" marL="0">
              <a:buNone/>
            </a:pPr>
            <a:r>
              <a:rPr lang="en-US" sz="1100" i="1" dirty="0">
                <a:solidFill>
                  <a:srgbClr val="E8EEF8"/>
                </a:solidFill>
                <a:latin typeface="Calibri" pitchFamily="34" charset="0"/>
                <a:ea typeface="Calibri" pitchFamily="34" charset="-122"/>
                <a:cs typeface="Calibri" pitchFamily="34" charset="-120"/>
              </a:rPr>
              <a:t>"This algorithm was developed</a:t>
            </a:r>
            <a:endParaRPr lang="en-US" sz="1100" dirty="0"/>
          </a:p>
          <a:p>
            <a:pPr algn="ctr" indent="0" marL="0">
              <a:buNone/>
            </a:pPr>
            <a:r>
              <a:rPr lang="en-US" sz="1100" i="1" dirty="0">
                <a:solidFill>
                  <a:srgbClr val="E8EEF8"/>
                </a:solidFill>
                <a:latin typeface="Calibri" pitchFamily="34" charset="0"/>
                <a:ea typeface="Calibri" pitchFamily="34" charset="-122"/>
                <a:cs typeface="Calibri" pitchFamily="34" charset="-120"/>
              </a:rPr>
              <a:t>by a British statistician —</a:t>
            </a:r>
            <a:endParaRPr lang="en-US" sz="1100" dirty="0"/>
          </a:p>
          <a:p>
            <a:pPr algn="ctr" indent="0" marL="0">
              <a:buNone/>
            </a:pPr>
            <a:r>
              <a:rPr lang="en-US" sz="1100" i="1" dirty="0">
                <a:solidFill>
                  <a:srgbClr val="E8EEF8"/>
                </a:solidFill>
                <a:latin typeface="Calibri" pitchFamily="34" charset="0"/>
                <a:ea typeface="Calibri" pitchFamily="34" charset="-122"/>
                <a:cs typeface="Calibri" pitchFamily="34" charset="-120"/>
              </a:rPr>
              <a:t>a fitting foundation for</a:t>
            </a:r>
            <a:endParaRPr lang="en-US" sz="1100" dirty="0"/>
          </a:p>
          <a:p>
            <a:pPr algn="ctr" indent="0" marL="0">
              <a:buNone/>
            </a:pPr>
            <a:r>
              <a:rPr lang="en-US" sz="1100" i="1" dirty="0">
                <a:solidFill>
                  <a:srgbClr val="E8EEF8"/>
                </a:solidFill>
                <a:latin typeface="Calibri" pitchFamily="34" charset="0"/>
                <a:ea typeface="Calibri" pitchFamily="34" charset="-122"/>
                <a:cs typeface="Calibri" pitchFamily="34" charset="-120"/>
              </a:rPr>
              <a:t>a UK-focused project."</a:t>
            </a:r>
            <a:endParaRPr lang="en-US" sz="1100" dirty="0"/>
          </a:p>
        </p:txBody>
      </p:sp>
      <p:sp>
        <p:nvSpPr>
          <p:cNvPr id="25" name="Shape 23"/>
          <p:cNvSpPr/>
          <p:nvPr/>
        </p:nvSpPr>
        <p:spPr>
          <a:xfrm>
            <a:off x="365760" y="4617720"/>
            <a:ext cx="8412480" cy="347472"/>
          </a:xfrm>
          <a:prstGeom prst="rect">
            <a:avLst/>
          </a:prstGeom>
          <a:solidFill>
            <a:srgbClr val="FEF9E7"/>
          </a:solidFill>
          <a:ln w="12700">
            <a:solidFill>
              <a:srgbClr val="D4AC0D"/>
            </a:solidFill>
            <a:prstDash val="solid"/>
          </a:ln>
        </p:spPr>
      </p:sp>
      <p:sp>
        <p:nvSpPr>
          <p:cNvPr id="26" name="Text 24"/>
          <p:cNvSpPr/>
          <p:nvPr/>
        </p:nvSpPr>
        <p:spPr>
          <a:xfrm>
            <a:off x="502920" y="4645152"/>
            <a:ext cx="8138160" cy="310896"/>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Note — Why 'Naive'? The algorithm treats every word as entirely independent. In practice, 'tax refund' together carries more meaning than each word in isolation. Despite this simplification, the model achieves 100% accuracy.</a:t>
            </a:r>
            <a:endParaRPr lang="en-US" sz="1050" dirty="0"/>
          </a:p>
        </p:txBody>
      </p:sp>
      <p:sp>
        <p:nvSpPr>
          <p:cNvPr id="27" name="Shape 25"/>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201168"/>
            <a:ext cx="8229600" cy="54864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How the Model Was Built</a:t>
            </a:r>
            <a:endParaRPr lang="en-US" sz="3000" dirty="0"/>
          </a:p>
        </p:txBody>
      </p:sp>
      <p:sp>
        <p:nvSpPr>
          <p:cNvPr id="4" name="Shape 2"/>
          <p:cNvSpPr/>
          <p:nvPr/>
        </p:nvSpPr>
        <p:spPr>
          <a:xfrm>
            <a:off x="320040" y="960120"/>
            <a:ext cx="1508760" cy="22860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5" name="Shape 3"/>
          <p:cNvSpPr/>
          <p:nvPr/>
        </p:nvSpPr>
        <p:spPr>
          <a:xfrm>
            <a:off x="320040" y="960120"/>
            <a:ext cx="1508760" cy="347472"/>
          </a:xfrm>
          <a:prstGeom prst="rect">
            <a:avLst/>
          </a:prstGeom>
          <a:solidFill>
            <a:srgbClr val="1E2761"/>
          </a:solidFill>
          <a:ln w="12700">
            <a:solidFill>
              <a:srgbClr val="1E2761"/>
            </a:solidFill>
            <a:prstDash val="solid"/>
          </a:ln>
        </p:spPr>
      </p:sp>
      <p:sp>
        <p:nvSpPr>
          <p:cNvPr id="6" name="Text 4"/>
          <p:cNvSpPr/>
          <p:nvPr/>
        </p:nvSpPr>
        <p:spPr>
          <a:xfrm>
            <a:off x="320040" y="987552"/>
            <a:ext cx="1508760" cy="274320"/>
          </a:xfrm>
          <a:prstGeom prst="rect">
            <a:avLst/>
          </a:prstGeom>
          <a:noFill/>
          <a:ln/>
        </p:spPr>
        <p:txBody>
          <a:bodyPr wrap="square" rtlCol="0" anchor="ctr"/>
          <a:lstStyle/>
          <a:p>
            <a:pPr algn="ctr" indent="0" marL="0">
              <a:buNone/>
            </a:pPr>
            <a:r>
              <a:rPr lang="en-US" sz="1000" b="1" dirty="0">
                <a:solidFill>
                  <a:srgbClr val="A9CCE3"/>
                </a:solidFill>
                <a:latin typeface="Calibri" pitchFamily="34" charset="0"/>
                <a:ea typeface="Calibri" pitchFamily="34" charset="-122"/>
                <a:cs typeface="Calibri" pitchFamily="34" charset="-120"/>
              </a:rPr>
              <a:t>Step 1</a:t>
            </a:r>
            <a:endParaRPr lang="en-US" sz="1000" dirty="0"/>
          </a:p>
        </p:txBody>
      </p:sp>
      <p:sp>
        <p:nvSpPr>
          <p:cNvPr id="7" name="Text 5"/>
          <p:cNvSpPr/>
          <p:nvPr/>
        </p:nvSpPr>
        <p:spPr>
          <a:xfrm>
            <a:off x="320040" y="1325880"/>
            <a:ext cx="15087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8" name="Text 6"/>
          <p:cNvSpPr/>
          <p:nvPr/>
        </p:nvSpPr>
        <p:spPr>
          <a:xfrm>
            <a:off x="365760" y="1810512"/>
            <a:ext cx="141732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Load Data</a:t>
            </a:r>
            <a:endParaRPr lang="en-US" sz="1300" dirty="0"/>
          </a:p>
        </p:txBody>
      </p:sp>
      <p:sp>
        <p:nvSpPr>
          <p:cNvPr id="9" name="Text 7"/>
          <p:cNvSpPr/>
          <p:nvPr/>
        </p:nvSpPr>
        <p:spPr>
          <a:xfrm>
            <a:off x="365760" y="2139696"/>
            <a:ext cx="1417320" cy="804672"/>
          </a:xfrm>
          <a:prstGeom prst="rect">
            <a:avLst/>
          </a:prstGeom>
          <a:noFill/>
          <a:ln/>
        </p:spPr>
        <p:txBody>
          <a:bodyPr wrap="square" rtlCol="0" anchor="ctr"/>
          <a:lstStyle/>
          <a:p>
            <a:pPr algn="ctr" indent="0" marL="0">
              <a:buNone/>
            </a:pPr>
            <a:r>
              <a:rPr lang="en-US" sz="1050" dirty="0">
                <a:solidFill>
                  <a:srgbClr val="212529"/>
                </a:solidFill>
                <a:latin typeface="Calibri" pitchFamily="34" charset="0"/>
                <a:ea typeface="Calibri" pitchFamily="34" charset="-122"/>
                <a:cs typeface="Calibri" pitchFamily="34" charset="-120"/>
              </a:rPr>
              <a:t>101 UK messages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50 SCAM + 51 LEGITIMATE</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CSV format</a:t>
            </a:r>
            <a:endParaRPr lang="en-US" sz="1050" dirty="0"/>
          </a:p>
        </p:txBody>
      </p:sp>
      <p:sp>
        <p:nvSpPr>
          <p:cNvPr id="10" name="Text 8"/>
          <p:cNvSpPr/>
          <p:nvPr/>
        </p:nvSpPr>
        <p:spPr>
          <a:xfrm>
            <a:off x="1801368" y="1737360"/>
            <a:ext cx="274320" cy="365760"/>
          </a:xfrm>
          <a:prstGeom prst="rect">
            <a:avLst/>
          </a:prstGeom>
          <a:noFill/>
          <a:ln/>
        </p:spPr>
        <p:txBody>
          <a:bodyPr wrap="square" rtlCol="0" anchor="ctr"/>
          <a:lstStyle/>
          <a:p>
            <a:pPr algn="ctr" indent="0" marL="0">
              <a:buNone/>
            </a:pPr>
            <a:r>
              <a:rPr lang="en-US" sz="2000" b="1" dirty="0">
                <a:solidFill>
                  <a:srgbClr val="3A5BA0"/>
                </a:solidFill>
              </a:rPr>
              <a:t>→</a:t>
            </a:r>
            <a:endParaRPr lang="en-US" sz="2000" dirty="0"/>
          </a:p>
        </p:txBody>
      </p:sp>
      <p:sp>
        <p:nvSpPr>
          <p:cNvPr id="11" name="Shape 9"/>
          <p:cNvSpPr/>
          <p:nvPr/>
        </p:nvSpPr>
        <p:spPr>
          <a:xfrm>
            <a:off x="2039112" y="960120"/>
            <a:ext cx="1508760" cy="22860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2" name="Shape 10"/>
          <p:cNvSpPr/>
          <p:nvPr/>
        </p:nvSpPr>
        <p:spPr>
          <a:xfrm>
            <a:off x="2039112" y="960120"/>
            <a:ext cx="1508760" cy="347472"/>
          </a:xfrm>
          <a:prstGeom prst="rect">
            <a:avLst/>
          </a:prstGeom>
          <a:solidFill>
            <a:srgbClr val="1E2761"/>
          </a:solidFill>
          <a:ln w="12700">
            <a:solidFill>
              <a:srgbClr val="1E2761"/>
            </a:solidFill>
            <a:prstDash val="solid"/>
          </a:ln>
        </p:spPr>
      </p:sp>
      <p:sp>
        <p:nvSpPr>
          <p:cNvPr id="13" name="Text 11"/>
          <p:cNvSpPr/>
          <p:nvPr/>
        </p:nvSpPr>
        <p:spPr>
          <a:xfrm>
            <a:off x="2039112" y="987552"/>
            <a:ext cx="1508760" cy="274320"/>
          </a:xfrm>
          <a:prstGeom prst="rect">
            <a:avLst/>
          </a:prstGeom>
          <a:noFill/>
          <a:ln/>
        </p:spPr>
        <p:txBody>
          <a:bodyPr wrap="square" rtlCol="0" anchor="ctr"/>
          <a:lstStyle/>
          <a:p>
            <a:pPr algn="ctr" indent="0" marL="0">
              <a:buNone/>
            </a:pPr>
            <a:r>
              <a:rPr lang="en-US" sz="1000" b="1" dirty="0">
                <a:solidFill>
                  <a:srgbClr val="A9CCE3"/>
                </a:solidFill>
                <a:latin typeface="Calibri" pitchFamily="34" charset="0"/>
                <a:ea typeface="Calibri" pitchFamily="34" charset="-122"/>
                <a:cs typeface="Calibri" pitchFamily="34" charset="-120"/>
              </a:rPr>
              <a:t>Step 2</a:t>
            </a:r>
            <a:endParaRPr lang="en-US" sz="1000" dirty="0"/>
          </a:p>
        </p:txBody>
      </p:sp>
      <p:sp>
        <p:nvSpPr>
          <p:cNvPr id="14" name="Text 12"/>
          <p:cNvSpPr/>
          <p:nvPr/>
        </p:nvSpPr>
        <p:spPr>
          <a:xfrm>
            <a:off x="2039112" y="1325880"/>
            <a:ext cx="15087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5" name="Text 13"/>
          <p:cNvSpPr/>
          <p:nvPr/>
        </p:nvSpPr>
        <p:spPr>
          <a:xfrm>
            <a:off x="2084832" y="1810512"/>
            <a:ext cx="141732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Split 80/20</a:t>
            </a:r>
            <a:endParaRPr lang="en-US" sz="1300" dirty="0"/>
          </a:p>
        </p:txBody>
      </p:sp>
      <p:sp>
        <p:nvSpPr>
          <p:cNvPr id="16" name="Text 14"/>
          <p:cNvSpPr/>
          <p:nvPr/>
        </p:nvSpPr>
        <p:spPr>
          <a:xfrm>
            <a:off x="2084832" y="2139696"/>
            <a:ext cx="1417320" cy="804672"/>
          </a:xfrm>
          <a:prstGeom prst="rect">
            <a:avLst/>
          </a:prstGeom>
          <a:noFill/>
          <a:ln/>
        </p:spPr>
        <p:txBody>
          <a:bodyPr wrap="square" rtlCol="0" anchor="ctr"/>
          <a:lstStyle/>
          <a:p>
            <a:pPr algn="ctr" indent="0" marL="0">
              <a:buNone/>
            </a:pPr>
            <a:r>
              <a:rPr lang="en-US" sz="1050" dirty="0">
                <a:solidFill>
                  <a:srgbClr val="212529"/>
                </a:solidFill>
                <a:latin typeface="Calibri" pitchFamily="34" charset="0"/>
                <a:ea typeface="Calibri" pitchFamily="34" charset="-122"/>
                <a:cs typeface="Calibri" pitchFamily="34" charset="-120"/>
              </a:rPr>
              <a:t>80 for training</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21 for testing</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Stratified split</a:t>
            </a:r>
            <a:endParaRPr lang="en-US" sz="1050" dirty="0"/>
          </a:p>
        </p:txBody>
      </p:sp>
      <p:sp>
        <p:nvSpPr>
          <p:cNvPr id="17" name="Text 15"/>
          <p:cNvSpPr/>
          <p:nvPr/>
        </p:nvSpPr>
        <p:spPr>
          <a:xfrm>
            <a:off x="3520440" y="1737360"/>
            <a:ext cx="274320" cy="365760"/>
          </a:xfrm>
          <a:prstGeom prst="rect">
            <a:avLst/>
          </a:prstGeom>
          <a:noFill/>
          <a:ln/>
        </p:spPr>
        <p:txBody>
          <a:bodyPr wrap="square" rtlCol="0" anchor="ctr"/>
          <a:lstStyle/>
          <a:p>
            <a:pPr algn="ctr" indent="0" marL="0">
              <a:buNone/>
            </a:pPr>
            <a:r>
              <a:rPr lang="en-US" sz="2000" b="1" dirty="0">
                <a:solidFill>
                  <a:srgbClr val="3A5BA0"/>
                </a:solidFill>
              </a:rPr>
              <a:t>→</a:t>
            </a:r>
            <a:endParaRPr lang="en-US" sz="2000" dirty="0"/>
          </a:p>
        </p:txBody>
      </p:sp>
      <p:sp>
        <p:nvSpPr>
          <p:cNvPr id="18" name="Shape 16"/>
          <p:cNvSpPr/>
          <p:nvPr/>
        </p:nvSpPr>
        <p:spPr>
          <a:xfrm>
            <a:off x="3758184" y="960120"/>
            <a:ext cx="1508760" cy="22860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9" name="Shape 17"/>
          <p:cNvSpPr/>
          <p:nvPr/>
        </p:nvSpPr>
        <p:spPr>
          <a:xfrm>
            <a:off x="3758184" y="960120"/>
            <a:ext cx="1508760" cy="347472"/>
          </a:xfrm>
          <a:prstGeom prst="rect">
            <a:avLst/>
          </a:prstGeom>
          <a:solidFill>
            <a:srgbClr val="1E2761"/>
          </a:solidFill>
          <a:ln w="12700">
            <a:solidFill>
              <a:srgbClr val="1E2761"/>
            </a:solidFill>
            <a:prstDash val="solid"/>
          </a:ln>
        </p:spPr>
      </p:sp>
      <p:sp>
        <p:nvSpPr>
          <p:cNvPr id="20" name="Text 18"/>
          <p:cNvSpPr/>
          <p:nvPr/>
        </p:nvSpPr>
        <p:spPr>
          <a:xfrm>
            <a:off x="3758184" y="987552"/>
            <a:ext cx="1508760" cy="274320"/>
          </a:xfrm>
          <a:prstGeom prst="rect">
            <a:avLst/>
          </a:prstGeom>
          <a:noFill/>
          <a:ln/>
        </p:spPr>
        <p:txBody>
          <a:bodyPr wrap="square" rtlCol="0" anchor="ctr"/>
          <a:lstStyle/>
          <a:p>
            <a:pPr algn="ctr" indent="0" marL="0">
              <a:buNone/>
            </a:pPr>
            <a:r>
              <a:rPr lang="en-US" sz="1000" b="1" dirty="0">
                <a:solidFill>
                  <a:srgbClr val="A9CCE3"/>
                </a:solidFill>
                <a:latin typeface="Calibri" pitchFamily="34" charset="0"/>
                <a:ea typeface="Calibri" pitchFamily="34" charset="-122"/>
                <a:cs typeface="Calibri" pitchFamily="34" charset="-120"/>
              </a:rPr>
              <a:t>Step 3</a:t>
            </a:r>
            <a:endParaRPr lang="en-US" sz="1000" dirty="0"/>
          </a:p>
        </p:txBody>
      </p:sp>
      <p:sp>
        <p:nvSpPr>
          <p:cNvPr id="21" name="Text 19"/>
          <p:cNvSpPr/>
          <p:nvPr/>
        </p:nvSpPr>
        <p:spPr>
          <a:xfrm>
            <a:off x="3758184" y="1325880"/>
            <a:ext cx="15087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2" name="Text 20"/>
          <p:cNvSpPr/>
          <p:nvPr/>
        </p:nvSpPr>
        <p:spPr>
          <a:xfrm>
            <a:off x="3803904" y="1810512"/>
            <a:ext cx="141732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TF-IDF</a:t>
            </a:r>
            <a:endParaRPr lang="en-US" sz="1300" dirty="0"/>
          </a:p>
        </p:txBody>
      </p:sp>
      <p:sp>
        <p:nvSpPr>
          <p:cNvPr id="23" name="Text 21"/>
          <p:cNvSpPr/>
          <p:nvPr/>
        </p:nvSpPr>
        <p:spPr>
          <a:xfrm>
            <a:off x="3803904" y="2139696"/>
            <a:ext cx="1417320" cy="804672"/>
          </a:xfrm>
          <a:prstGeom prst="rect">
            <a:avLst/>
          </a:prstGeom>
          <a:noFill/>
          <a:ln/>
        </p:spPr>
        <p:txBody>
          <a:bodyPr wrap="square" rtlCol="0" anchor="ctr"/>
          <a:lstStyle/>
          <a:p>
            <a:pPr algn="ctr" indent="0" marL="0">
              <a:buNone/>
            </a:pPr>
            <a:r>
              <a:rPr lang="en-US" sz="1050" dirty="0">
                <a:solidFill>
                  <a:srgbClr val="212529"/>
                </a:solidFill>
                <a:latin typeface="Calibri" pitchFamily="34" charset="0"/>
                <a:ea typeface="Calibri" pitchFamily="34" charset="-122"/>
                <a:cs typeface="Calibri" pitchFamily="34" charset="-120"/>
              </a:rPr>
              <a:t>Convert words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to numbers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500 features</a:t>
            </a:r>
            <a:endParaRPr lang="en-US" sz="1050" dirty="0"/>
          </a:p>
        </p:txBody>
      </p:sp>
      <p:sp>
        <p:nvSpPr>
          <p:cNvPr id="24" name="Text 22"/>
          <p:cNvSpPr/>
          <p:nvPr/>
        </p:nvSpPr>
        <p:spPr>
          <a:xfrm>
            <a:off x="5239512" y="1737360"/>
            <a:ext cx="274320" cy="365760"/>
          </a:xfrm>
          <a:prstGeom prst="rect">
            <a:avLst/>
          </a:prstGeom>
          <a:noFill/>
          <a:ln/>
        </p:spPr>
        <p:txBody>
          <a:bodyPr wrap="square" rtlCol="0" anchor="ctr"/>
          <a:lstStyle/>
          <a:p>
            <a:pPr algn="ctr" indent="0" marL="0">
              <a:buNone/>
            </a:pPr>
            <a:r>
              <a:rPr lang="en-US" sz="2000" b="1" dirty="0">
                <a:solidFill>
                  <a:srgbClr val="3A5BA0"/>
                </a:solidFill>
              </a:rPr>
              <a:t>→</a:t>
            </a:r>
            <a:endParaRPr lang="en-US" sz="2000" dirty="0"/>
          </a:p>
        </p:txBody>
      </p:sp>
      <p:sp>
        <p:nvSpPr>
          <p:cNvPr id="25" name="Shape 23"/>
          <p:cNvSpPr/>
          <p:nvPr/>
        </p:nvSpPr>
        <p:spPr>
          <a:xfrm>
            <a:off x="5477256" y="960120"/>
            <a:ext cx="1508760" cy="22860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26" name="Shape 24"/>
          <p:cNvSpPr/>
          <p:nvPr/>
        </p:nvSpPr>
        <p:spPr>
          <a:xfrm>
            <a:off x="5477256" y="960120"/>
            <a:ext cx="1508760" cy="347472"/>
          </a:xfrm>
          <a:prstGeom prst="rect">
            <a:avLst/>
          </a:prstGeom>
          <a:solidFill>
            <a:srgbClr val="1E2761"/>
          </a:solidFill>
          <a:ln w="12700">
            <a:solidFill>
              <a:srgbClr val="1E2761"/>
            </a:solidFill>
            <a:prstDash val="solid"/>
          </a:ln>
        </p:spPr>
      </p:sp>
      <p:sp>
        <p:nvSpPr>
          <p:cNvPr id="27" name="Text 25"/>
          <p:cNvSpPr/>
          <p:nvPr/>
        </p:nvSpPr>
        <p:spPr>
          <a:xfrm>
            <a:off x="5477256" y="987552"/>
            <a:ext cx="1508760" cy="274320"/>
          </a:xfrm>
          <a:prstGeom prst="rect">
            <a:avLst/>
          </a:prstGeom>
          <a:noFill/>
          <a:ln/>
        </p:spPr>
        <p:txBody>
          <a:bodyPr wrap="square" rtlCol="0" anchor="ctr"/>
          <a:lstStyle/>
          <a:p>
            <a:pPr algn="ctr" indent="0" marL="0">
              <a:buNone/>
            </a:pPr>
            <a:r>
              <a:rPr lang="en-US" sz="1000" b="1" dirty="0">
                <a:solidFill>
                  <a:srgbClr val="A9CCE3"/>
                </a:solidFill>
                <a:latin typeface="Calibri" pitchFamily="34" charset="0"/>
                <a:ea typeface="Calibri" pitchFamily="34" charset="-122"/>
                <a:cs typeface="Calibri" pitchFamily="34" charset="-120"/>
              </a:rPr>
              <a:t>Step 4</a:t>
            </a:r>
            <a:endParaRPr lang="en-US" sz="1000" dirty="0"/>
          </a:p>
        </p:txBody>
      </p:sp>
      <p:sp>
        <p:nvSpPr>
          <p:cNvPr id="28" name="Text 26"/>
          <p:cNvSpPr/>
          <p:nvPr/>
        </p:nvSpPr>
        <p:spPr>
          <a:xfrm>
            <a:off x="5477256" y="1325880"/>
            <a:ext cx="15087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29" name="Text 27"/>
          <p:cNvSpPr/>
          <p:nvPr/>
        </p:nvSpPr>
        <p:spPr>
          <a:xfrm>
            <a:off x="5522976" y="1810512"/>
            <a:ext cx="141732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Train</a:t>
            </a:r>
            <a:endParaRPr lang="en-US" sz="1300" dirty="0"/>
          </a:p>
        </p:txBody>
      </p:sp>
      <p:sp>
        <p:nvSpPr>
          <p:cNvPr id="30" name="Text 28"/>
          <p:cNvSpPr/>
          <p:nvPr/>
        </p:nvSpPr>
        <p:spPr>
          <a:xfrm>
            <a:off x="5522976" y="2139696"/>
            <a:ext cx="1417320" cy="804672"/>
          </a:xfrm>
          <a:prstGeom prst="rect">
            <a:avLst/>
          </a:prstGeom>
          <a:noFill/>
          <a:ln/>
        </p:spPr>
        <p:txBody>
          <a:bodyPr wrap="square" rtlCol="0" anchor="ctr"/>
          <a:lstStyle/>
          <a:p>
            <a:pPr algn="ctr" indent="0" marL="0">
              <a:buNone/>
            </a:pPr>
            <a:r>
              <a:rPr lang="en-US" sz="1050" dirty="0">
                <a:solidFill>
                  <a:srgbClr val="212529"/>
                </a:solidFill>
                <a:latin typeface="Calibri" pitchFamily="34" charset="0"/>
                <a:ea typeface="Calibri" pitchFamily="34" charset="-122"/>
                <a:cs typeface="Calibri" pitchFamily="34" charset="-120"/>
              </a:rPr>
              <a:t>Naive Bayes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learns patterns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in milliseconds</a:t>
            </a:r>
            <a:endParaRPr lang="en-US" sz="1050" dirty="0"/>
          </a:p>
        </p:txBody>
      </p:sp>
      <p:sp>
        <p:nvSpPr>
          <p:cNvPr id="31" name="Text 29"/>
          <p:cNvSpPr/>
          <p:nvPr/>
        </p:nvSpPr>
        <p:spPr>
          <a:xfrm>
            <a:off x="6958584" y="1737360"/>
            <a:ext cx="274320" cy="365760"/>
          </a:xfrm>
          <a:prstGeom prst="rect">
            <a:avLst/>
          </a:prstGeom>
          <a:noFill/>
          <a:ln/>
        </p:spPr>
        <p:txBody>
          <a:bodyPr wrap="square" rtlCol="0" anchor="ctr"/>
          <a:lstStyle/>
          <a:p>
            <a:pPr algn="ctr" indent="0" marL="0">
              <a:buNone/>
            </a:pPr>
            <a:r>
              <a:rPr lang="en-US" sz="2000" b="1" dirty="0">
                <a:solidFill>
                  <a:srgbClr val="3A5BA0"/>
                </a:solidFill>
              </a:rPr>
              <a:t>→</a:t>
            </a:r>
            <a:endParaRPr lang="en-US" sz="2000" dirty="0"/>
          </a:p>
        </p:txBody>
      </p:sp>
      <p:sp>
        <p:nvSpPr>
          <p:cNvPr id="32" name="Shape 30"/>
          <p:cNvSpPr/>
          <p:nvPr/>
        </p:nvSpPr>
        <p:spPr>
          <a:xfrm>
            <a:off x="7196328" y="960120"/>
            <a:ext cx="1508760" cy="22860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33" name="Shape 31"/>
          <p:cNvSpPr/>
          <p:nvPr/>
        </p:nvSpPr>
        <p:spPr>
          <a:xfrm>
            <a:off x="7196328" y="960120"/>
            <a:ext cx="1508760" cy="347472"/>
          </a:xfrm>
          <a:prstGeom prst="rect">
            <a:avLst/>
          </a:prstGeom>
          <a:solidFill>
            <a:srgbClr val="1E2761"/>
          </a:solidFill>
          <a:ln w="12700">
            <a:solidFill>
              <a:srgbClr val="1E2761"/>
            </a:solidFill>
            <a:prstDash val="solid"/>
          </a:ln>
        </p:spPr>
      </p:sp>
      <p:sp>
        <p:nvSpPr>
          <p:cNvPr id="34" name="Text 32"/>
          <p:cNvSpPr/>
          <p:nvPr/>
        </p:nvSpPr>
        <p:spPr>
          <a:xfrm>
            <a:off x="7196328" y="987552"/>
            <a:ext cx="1508760" cy="274320"/>
          </a:xfrm>
          <a:prstGeom prst="rect">
            <a:avLst/>
          </a:prstGeom>
          <a:noFill/>
          <a:ln/>
        </p:spPr>
        <p:txBody>
          <a:bodyPr wrap="square" rtlCol="0" anchor="ctr"/>
          <a:lstStyle/>
          <a:p>
            <a:pPr algn="ctr" indent="0" marL="0">
              <a:buNone/>
            </a:pPr>
            <a:r>
              <a:rPr lang="en-US" sz="1000" b="1" dirty="0">
                <a:solidFill>
                  <a:srgbClr val="A9CCE3"/>
                </a:solidFill>
                <a:latin typeface="Calibri" pitchFamily="34" charset="0"/>
                <a:ea typeface="Calibri" pitchFamily="34" charset="-122"/>
                <a:cs typeface="Calibri" pitchFamily="34" charset="-120"/>
              </a:rPr>
              <a:t>Step 5</a:t>
            </a:r>
            <a:endParaRPr lang="en-US" sz="1000" dirty="0"/>
          </a:p>
        </p:txBody>
      </p:sp>
      <p:sp>
        <p:nvSpPr>
          <p:cNvPr id="35" name="Text 33"/>
          <p:cNvSpPr/>
          <p:nvPr/>
        </p:nvSpPr>
        <p:spPr>
          <a:xfrm>
            <a:off x="7196328" y="1325880"/>
            <a:ext cx="1508760" cy="50292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36" name="Text 34"/>
          <p:cNvSpPr/>
          <p:nvPr/>
        </p:nvSpPr>
        <p:spPr>
          <a:xfrm>
            <a:off x="7242048" y="1810512"/>
            <a:ext cx="1417320" cy="347472"/>
          </a:xfrm>
          <a:prstGeom prst="rect">
            <a:avLst/>
          </a:prstGeom>
          <a:noFill/>
          <a:ln/>
        </p:spPr>
        <p:txBody>
          <a:bodyPr wrap="square" rtlCol="0" anchor="ctr"/>
          <a:lstStyle/>
          <a:p>
            <a:pPr algn="ctr" indent="0" marL="0">
              <a:buNone/>
            </a:pPr>
            <a:r>
              <a:rPr lang="en-US" sz="1300" b="1" dirty="0">
                <a:solidFill>
                  <a:srgbClr val="1E2761"/>
                </a:solidFill>
                <a:latin typeface="Calibri" pitchFamily="34" charset="0"/>
                <a:ea typeface="Calibri" pitchFamily="34" charset="-122"/>
                <a:cs typeface="Calibri" pitchFamily="34" charset="-120"/>
              </a:rPr>
              <a:t>Test &amp; Score</a:t>
            </a:r>
            <a:endParaRPr lang="en-US" sz="1300" dirty="0"/>
          </a:p>
        </p:txBody>
      </p:sp>
      <p:sp>
        <p:nvSpPr>
          <p:cNvPr id="37" name="Text 35"/>
          <p:cNvSpPr/>
          <p:nvPr/>
        </p:nvSpPr>
        <p:spPr>
          <a:xfrm>
            <a:off x="7242048" y="2139696"/>
            <a:ext cx="1417320" cy="804672"/>
          </a:xfrm>
          <a:prstGeom prst="rect">
            <a:avLst/>
          </a:prstGeom>
          <a:noFill/>
          <a:ln/>
        </p:spPr>
        <p:txBody>
          <a:bodyPr wrap="square" rtlCol="0" anchor="ctr"/>
          <a:lstStyle/>
          <a:p>
            <a:pPr algn="ctr" indent="0" marL="0">
              <a:buNone/>
            </a:pPr>
            <a:r>
              <a:rPr lang="en-US" sz="1050" dirty="0">
                <a:solidFill>
                  <a:srgbClr val="212529"/>
                </a:solidFill>
                <a:latin typeface="Calibri" pitchFamily="34" charset="0"/>
                <a:ea typeface="Calibri" pitchFamily="34" charset="-122"/>
                <a:cs typeface="Calibri" pitchFamily="34" charset="-120"/>
              </a:rPr>
              <a:t>Predict on 21</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unseen messages</a:t>
            </a:r>
            <a:endParaRPr lang="en-US" sz="1050" dirty="0"/>
          </a:p>
          <a:p>
            <a:pPr algn="ctr" indent="0" marL="0">
              <a:buNone/>
            </a:pPr>
            <a:r>
              <a:rPr lang="en-US" sz="1050" dirty="0">
                <a:solidFill>
                  <a:srgbClr val="212529"/>
                </a:solidFill>
                <a:latin typeface="Calibri" pitchFamily="34" charset="0"/>
                <a:ea typeface="Calibri" pitchFamily="34" charset="-122"/>
                <a:cs typeface="Calibri" pitchFamily="34" charset="-120"/>
              </a:rPr>
              <a:t>100% accuracy</a:t>
            </a:r>
            <a:endParaRPr lang="en-US" sz="1050" dirty="0"/>
          </a:p>
        </p:txBody>
      </p:sp>
      <p:sp>
        <p:nvSpPr>
          <p:cNvPr id="38" name="Shape 36"/>
          <p:cNvSpPr/>
          <p:nvPr/>
        </p:nvSpPr>
        <p:spPr>
          <a:xfrm>
            <a:off x="365760" y="3429000"/>
            <a:ext cx="5029200" cy="1417320"/>
          </a:xfrm>
          <a:prstGeom prst="rect">
            <a:avLst/>
          </a:prstGeom>
          <a:solidFill>
            <a:srgbClr val="E8EEF8"/>
          </a:solidFill>
          <a:ln w="12700">
            <a:solidFill>
              <a:srgbClr val="A9CCE3"/>
            </a:solidFill>
            <a:prstDash val="solid"/>
          </a:ln>
        </p:spPr>
      </p:sp>
      <p:sp>
        <p:nvSpPr>
          <p:cNvPr id="39" name="Text 37"/>
          <p:cNvSpPr/>
          <p:nvPr/>
        </p:nvSpPr>
        <p:spPr>
          <a:xfrm>
            <a:off x="548640" y="3493008"/>
            <a:ext cx="4663440" cy="347472"/>
          </a:xfrm>
          <a:prstGeom prst="rect">
            <a:avLst/>
          </a:prstGeom>
          <a:noFill/>
          <a:ln/>
        </p:spPr>
        <p:txBody>
          <a:bodyPr wrap="square" rtlCol="0" anchor="ctr"/>
          <a:lstStyle/>
          <a:p>
            <a:pPr indent="0" marL="0">
              <a:buNone/>
            </a:pPr>
            <a:r>
              <a:rPr lang="en-US" sz="1300" b="1" dirty="0">
                <a:solidFill>
                  <a:srgbClr val="1E2761"/>
                </a:solidFill>
                <a:latin typeface="Calibri" pitchFamily="34" charset="0"/>
                <a:ea typeface="Calibri" pitchFamily="34" charset="-122"/>
                <a:cs typeface="Calibri" pitchFamily="34" charset="-120"/>
              </a:rPr>
              <a:t>🔢  What is TF-IDF?</a:t>
            </a:r>
            <a:endParaRPr lang="en-US" sz="1300" dirty="0"/>
          </a:p>
        </p:txBody>
      </p:sp>
      <p:sp>
        <p:nvSpPr>
          <p:cNvPr id="40" name="Text 38"/>
          <p:cNvSpPr/>
          <p:nvPr/>
        </p:nvSpPr>
        <p:spPr>
          <a:xfrm>
            <a:off x="548640" y="3803904"/>
            <a:ext cx="4663440" cy="914400"/>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Machine learning models process numbers, not words. TF-IDF converts each message into a row of 500 numerical values. Words that are rare but frequent within one category — such as 'HMRC' in fraudulent messages — receive a high score. Common words such as 'the' receive a low score.</a:t>
            </a:r>
            <a:endParaRPr lang="en-US" sz="1100" dirty="0"/>
          </a:p>
        </p:txBody>
      </p:sp>
      <p:sp>
        <p:nvSpPr>
          <p:cNvPr id="41" name="Shape 39"/>
          <p:cNvSpPr/>
          <p:nvPr/>
        </p:nvSpPr>
        <p:spPr>
          <a:xfrm>
            <a:off x="5577840" y="3429000"/>
            <a:ext cx="3246120" cy="1417320"/>
          </a:xfrm>
          <a:prstGeom prst="rect">
            <a:avLst/>
          </a:prstGeom>
          <a:solidFill>
            <a:srgbClr val="EAFAF1"/>
          </a:solidFill>
          <a:ln w="12700">
            <a:solidFill>
              <a:srgbClr val="A9DFBF"/>
            </a:solidFill>
            <a:prstDash val="solid"/>
          </a:ln>
        </p:spPr>
      </p:sp>
      <p:sp>
        <p:nvSpPr>
          <p:cNvPr id="42" name="Text 40"/>
          <p:cNvSpPr/>
          <p:nvPr/>
        </p:nvSpPr>
        <p:spPr>
          <a:xfrm>
            <a:off x="5715000" y="3493008"/>
            <a:ext cx="2926080" cy="347472"/>
          </a:xfrm>
          <a:prstGeom prst="rect">
            <a:avLst/>
          </a:prstGeom>
          <a:noFill/>
          <a:ln/>
        </p:spPr>
        <p:txBody>
          <a:bodyPr wrap="square" rtlCol="0" anchor="ctr"/>
          <a:lstStyle/>
          <a:p>
            <a:pPr indent="0" marL="0">
              <a:buNone/>
            </a:pPr>
            <a:r>
              <a:rPr lang="en-US" sz="1300" b="1" dirty="0">
                <a:solidFill>
                  <a:srgbClr val="1E8449"/>
                </a:solidFill>
                <a:latin typeface="Calibri" pitchFamily="34" charset="0"/>
                <a:ea typeface="Calibri" pitchFamily="34" charset="-122"/>
                <a:cs typeface="Calibri" pitchFamily="34" charset="-120"/>
              </a:rPr>
              <a:t>💡  Bigrams — Word Pairs</a:t>
            </a:r>
            <a:endParaRPr lang="en-US" sz="1300" dirty="0"/>
          </a:p>
        </p:txBody>
      </p:sp>
      <p:sp>
        <p:nvSpPr>
          <p:cNvPr id="43" name="Text 41"/>
          <p:cNvSpPr/>
          <p:nvPr/>
        </p:nvSpPr>
        <p:spPr>
          <a:xfrm>
            <a:off x="5715000" y="3803904"/>
            <a:ext cx="2926080" cy="914400"/>
          </a:xfrm>
          <a:prstGeom prst="rect">
            <a:avLst/>
          </a:prstGeom>
          <a:noFill/>
          <a:ln/>
        </p:spPr>
        <p:txBody>
          <a:bodyPr wrap="square" rtlCol="0" anchor="ctr"/>
          <a:lstStyle/>
          <a:p>
            <a:pPr indent="0" marL="0">
              <a:buNone/>
            </a:pPr>
            <a:r>
              <a:rPr lang="en-US" sz="1100" dirty="0">
                <a:solidFill>
                  <a:srgbClr val="212529"/>
                </a:solidFill>
                <a:latin typeface="Calibri" pitchFamily="34" charset="0"/>
                <a:ea typeface="Calibri" pitchFamily="34" charset="-122"/>
                <a:cs typeface="Calibri" pitchFamily="34" charset="-120"/>
              </a:rPr>
              <a:t>The model also analyses pairs of consecutive words (bigrams). The phrase 'legal action' is more informative than either word individually. This enables the model to identify patterns such as 'tax refund' or 'claim now'.</a:t>
            </a:r>
            <a:endParaRPr lang="en-US" sz="1100" dirty="0"/>
          </a:p>
        </p:txBody>
      </p:sp>
      <p:sp>
        <p:nvSpPr>
          <p:cNvPr id="44" name="Shape 42"/>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201168"/>
            <a:ext cx="8229600" cy="54864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The Dataset — 101 UK Messages</a:t>
            </a:r>
            <a:endParaRPr lang="en-US" sz="3000" dirty="0"/>
          </a:p>
        </p:txBody>
      </p:sp>
      <p:sp>
        <p:nvSpPr>
          <p:cNvPr id="4" name="Text 2"/>
          <p:cNvSpPr/>
          <p:nvPr/>
        </p:nvSpPr>
        <p:spPr>
          <a:xfrm>
            <a:off x="457200" y="713232"/>
            <a:ext cx="8229600" cy="320040"/>
          </a:xfrm>
          <a:prstGeom prst="rect">
            <a:avLst/>
          </a:prstGeom>
          <a:noFill/>
          <a:ln/>
        </p:spPr>
        <p:txBody>
          <a:bodyPr wrap="square" rtlCol="0" anchor="ctr"/>
          <a:lstStyle/>
          <a:p>
            <a:pPr indent="0" marL="0">
              <a:buNone/>
            </a:pPr>
            <a:r>
              <a:rPr lang="en-US" sz="1300" i="1" dirty="0">
                <a:solidFill>
                  <a:srgbClr val="6C757D"/>
                </a:solidFill>
                <a:latin typeface="Calibri" pitchFamily="34" charset="0"/>
                <a:ea typeface="Calibri" pitchFamily="34" charset="-122"/>
                <a:cs typeface="Calibri" pitchFamily="34" charset="-120"/>
              </a:rPr>
              <a:t>Constructed to reflect real UK fraud patterns alongside genuine everyday communications</a:t>
            </a:r>
            <a:endParaRPr lang="en-US" sz="1300" dirty="0"/>
          </a:p>
        </p:txBody>
      </p:sp>
      <p:sp>
        <p:nvSpPr>
          <p:cNvPr id="5" name="Shape 3"/>
          <p:cNvSpPr/>
          <p:nvPr/>
        </p:nvSpPr>
        <p:spPr>
          <a:xfrm>
            <a:off x="365760" y="1097280"/>
            <a:ext cx="73152" cy="3291840"/>
          </a:xfrm>
          <a:prstGeom prst="rect">
            <a:avLst/>
          </a:prstGeom>
          <a:solidFill>
            <a:srgbClr val="C0392B"/>
          </a:solidFill>
          <a:ln w="12700">
            <a:solidFill>
              <a:srgbClr val="C0392B"/>
            </a:solidFill>
            <a:prstDash val="solid"/>
          </a:ln>
        </p:spPr>
      </p:sp>
      <p:sp>
        <p:nvSpPr>
          <p:cNvPr id="6" name="Text 4"/>
          <p:cNvSpPr/>
          <p:nvPr/>
        </p:nvSpPr>
        <p:spPr>
          <a:xfrm>
            <a:off x="566928" y="1115568"/>
            <a:ext cx="3749040" cy="347472"/>
          </a:xfrm>
          <a:prstGeom prst="rect">
            <a:avLst/>
          </a:prstGeom>
          <a:noFill/>
          <a:ln/>
        </p:spPr>
        <p:txBody>
          <a:bodyPr wrap="square" rtlCol="0" anchor="ctr"/>
          <a:lstStyle/>
          <a:p>
            <a:pPr indent="0" marL="0">
              <a:buNone/>
            </a:pPr>
            <a:r>
              <a:rPr lang="en-US" sz="1400" b="1" dirty="0">
                <a:solidFill>
                  <a:srgbClr val="C0392B"/>
                </a:solidFill>
                <a:latin typeface="Calibri" pitchFamily="34" charset="0"/>
                <a:ea typeface="Calibri" pitchFamily="34" charset="-122"/>
                <a:cs typeface="Calibri" pitchFamily="34" charset="-120"/>
              </a:rPr>
              <a:t>🚨  Fraudulent Messages — 50 total</a:t>
            </a:r>
            <a:endParaRPr lang="en-US" sz="1400" dirty="0"/>
          </a:p>
        </p:txBody>
      </p:sp>
      <p:sp>
        <p:nvSpPr>
          <p:cNvPr id="7" name="Text 5"/>
          <p:cNvSpPr/>
          <p:nvPr/>
        </p:nvSpPr>
        <p:spPr>
          <a:xfrm>
            <a:off x="658368" y="1444752"/>
            <a:ext cx="3657600" cy="2834640"/>
          </a:xfrm>
          <a:prstGeom prst="rect">
            <a:avLst/>
          </a:prstGeom>
          <a:noFill/>
          <a:ln/>
        </p:spPr>
        <p:txBody>
          <a:bodyPr wrap="square" rtlCol="0" anchor="ctr"/>
          <a:lstStyle/>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HMRC — fraudulent tax refund claims and legal threats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Royal Mail / Evri / DPD — false parcel delivery fees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PPI compensation claim fraud</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NHS appointment phishing links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DVLA vehicle tax demands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Bank fraud alerts — Barclays, Lloyds, Halifax</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TV Licence penalty notifications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Fraudulent prize and lottery notifications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Energy bill refund fraud</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Mobile upgrade and account fraud</a:t>
            </a:r>
            <a:endParaRPr lang="en-US" sz="1100" dirty="0"/>
          </a:p>
          <a:p>
            <a:pPr indent="0" marL="0">
              <a:spcAft>
                <a:spcPts val="200"/>
              </a:spcAft>
              <a:buNone/>
            </a:pPr>
            <a:endParaRPr lang="en-US" sz="1100" dirty="0"/>
          </a:p>
        </p:txBody>
      </p:sp>
      <p:sp>
        <p:nvSpPr>
          <p:cNvPr id="8" name="Shape 6"/>
          <p:cNvSpPr/>
          <p:nvPr/>
        </p:nvSpPr>
        <p:spPr>
          <a:xfrm>
            <a:off x="4572000" y="1097280"/>
            <a:ext cx="0" cy="3474720"/>
          </a:xfrm>
          <a:prstGeom prst="line">
            <a:avLst/>
          </a:prstGeom>
          <a:noFill/>
          <a:ln w="12700">
            <a:solidFill>
              <a:srgbClr val="DEE2E6"/>
            </a:solidFill>
            <a:prstDash val="dash"/>
          </a:ln>
        </p:spPr>
      </p:sp>
      <p:sp>
        <p:nvSpPr>
          <p:cNvPr id="9" name="Shape 7"/>
          <p:cNvSpPr/>
          <p:nvPr/>
        </p:nvSpPr>
        <p:spPr>
          <a:xfrm>
            <a:off x="4617720" y="1097280"/>
            <a:ext cx="73152" cy="3291840"/>
          </a:xfrm>
          <a:prstGeom prst="rect">
            <a:avLst/>
          </a:prstGeom>
          <a:solidFill>
            <a:srgbClr val="1E8449"/>
          </a:solidFill>
          <a:ln w="12700">
            <a:solidFill>
              <a:srgbClr val="1E8449"/>
            </a:solidFill>
            <a:prstDash val="solid"/>
          </a:ln>
        </p:spPr>
      </p:sp>
      <p:sp>
        <p:nvSpPr>
          <p:cNvPr id="10" name="Text 8"/>
          <p:cNvSpPr/>
          <p:nvPr/>
        </p:nvSpPr>
        <p:spPr>
          <a:xfrm>
            <a:off x="4800600" y="1115568"/>
            <a:ext cx="3931920" cy="347472"/>
          </a:xfrm>
          <a:prstGeom prst="rect">
            <a:avLst/>
          </a:prstGeom>
          <a:noFill/>
          <a:ln/>
        </p:spPr>
        <p:txBody>
          <a:bodyPr wrap="square" rtlCol="0" anchor="ctr"/>
          <a:lstStyle/>
          <a:p>
            <a:pPr indent="0" marL="0">
              <a:buNone/>
            </a:pPr>
            <a:r>
              <a:rPr lang="en-US" sz="1400" b="1" dirty="0">
                <a:solidFill>
                  <a:srgbClr val="1E8449"/>
                </a:solidFill>
                <a:latin typeface="Calibri" pitchFamily="34" charset="0"/>
                <a:ea typeface="Calibri" pitchFamily="34" charset="-122"/>
                <a:cs typeface="Calibri" pitchFamily="34" charset="-120"/>
              </a:rPr>
              <a:t>✅  Legitimate Messages — 51 total</a:t>
            </a:r>
            <a:endParaRPr lang="en-US" sz="1400" dirty="0"/>
          </a:p>
        </p:txBody>
      </p:sp>
      <p:sp>
        <p:nvSpPr>
          <p:cNvPr id="11" name="Text 9"/>
          <p:cNvSpPr/>
          <p:nvPr/>
        </p:nvSpPr>
        <p:spPr>
          <a:xfrm>
            <a:off x="4892040" y="1444752"/>
            <a:ext cx="3931920" cy="2834640"/>
          </a:xfrm>
          <a:prstGeom prst="rect">
            <a:avLst/>
          </a:prstGeom>
          <a:noFill/>
          <a:ln/>
        </p:spPr>
        <p:txBody>
          <a:bodyPr wrap="square" rtlCol="0" anchor="ctr"/>
          <a:lstStyle/>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Personal messages from friends and family</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Genuine bank notifications and statements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NHS and dental appointment reminders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Online order confirmations — Amazon, ASOS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National Rail ticket confirmations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Workplace and HR communications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Mobile bill notifications — EE, Vodafone</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Genuine TV Licence renewal confirmations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Student Finance England payment notifications</a:t>
            </a:r>
            <a:endParaRPr lang="en-US" sz="1100" dirty="0"/>
          </a:p>
          <a:p>
            <a:pPr marL="342900" indent="-342900">
              <a:spcAft>
                <a:spcPts val="200"/>
              </a:spcAft>
              <a:buSzPct val="100000"/>
              <a:buChar char="•"/>
            </a:pPr>
            <a:r>
              <a:rPr lang="en-US" sz="1100" dirty="0">
                <a:solidFill>
                  <a:srgbClr val="212529"/>
                </a:solidFill>
                <a:latin typeface="Calibri" pitchFamily="34" charset="0"/>
                <a:ea typeface="Calibri" pitchFamily="34" charset="-122"/>
                <a:cs typeface="Calibri" pitchFamily="34" charset="-120"/>
              </a:rPr>
              <a:t>Food delivery confirmations — Deliveroo, Uber Eats</a:t>
            </a:r>
            <a:endParaRPr lang="en-US" sz="1100" dirty="0"/>
          </a:p>
          <a:p>
            <a:pPr indent="0" marL="0">
              <a:spcAft>
                <a:spcPts val="200"/>
              </a:spcAft>
              <a:buNone/>
            </a:pPr>
            <a:endParaRPr lang="en-US" sz="1100" dirty="0"/>
          </a:p>
        </p:txBody>
      </p:sp>
      <p:sp>
        <p:nvSpPr>
          <p:cNvPr id="12" name="Shape 10"/>
          <p:cNvSpPr/>
          <p:nvPr/>
        </p:nvSpPr>
        <p:spPr>
          <a:xfrm>
            <a:off x="0" y="4572000"/>
            <a:ext cx="4526280" cy="347472"/>
          </a:xfrm>
          <a:prstGeom prst="rect">
            <a:avLst/>
          </a:prstGeom>
          <a:solidFill>
            <a:srgbClr val="C0392B"/>
          </a:solidFill>
          <a:ln w="12700">
            <a:solidFill>
              <a:srgbClr val="C0392B"/>
            </a:solidFill>
            <a:prstDash val="solid"/>
          </a:ln>
        </p:spPr>
      </p:sp>
      <p:sp>
        <p:nvSpPr>
          <p:cNvPr id="13" name="Text 11"/>
          <p:cNvSpPr/>
          <p:nvPr/>
        </p:nvSpPr>
        <p:spPr>
          <a:xfrm>
            <a:off x="182880" y="4599432"/>
            <a:ext cx="420624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SCAM: 50 messages (49.5%)</a:t>
            </a:r>
            <a:endParaRPr lang="en-US" sz="1200" dirty="0"/>
          </a:p>
        </p:txBody>
      </p:sp>
      <p:sp>
        <p:nvSpPr>
          <p:cNvPr id="14" name="Shape 12"/>
          <p:cNvSpPr/>
          <p:nvPr/>
        </p:nvSpPr>
        <p:spPr>
          <a:xfrm>
            <a:off x="4617720" y="4572000"/>
            <a:ext cx="4526280" cy="347472"/>
          </a:xfrm>
          <a:prstGeom prst="rect">
            <a:avLst/>
          </a:prstGeom>
          <a:solidFill>
            <a:srgbClr val="1E8449"/>
          </a:solidFill>
          <a:ln w="12700">
            <a:solidFill>
              <a:srgbClr val="1E8449"/>
            </a:solidFill>
            <a:prstDash val="solid"/>
          </a:ln>
        </p:spPr>
      </p:sp>
      <p:sp>
        <p:nvSpPr>
          <p:cNvPr id="15" name="Text 13"/>
          <p:cNvSpPr/>
          <p:nvPr/>
        </p:nvSpPr>
        <p:spPr>
          <a:xfrm>
            <a:off x="4663440" y="4599432"/>
            <a:ext cx="4297680" cy="274320"/>
          </a:xfrm>
          <a:prstGeom prst="rect">
            <a:avLst/>
          </a:prstGeom>
          <a:noFill/>
          <a:ln/>
        </p:spPr>
        <p:txBody>
          <a:bodyPr wrap="square" rtlCol="0" anchor="ctr"/>
          <a:lstStyle/>
          <a:p>
            <a:pPr indent="0" marL="0">
              <a:buNone/>
            </a:pPr>
            <a:r>
              <a:rPr lang="en-US" sz="1200" b="1" dirty="0">
                <a:solidFill>
                  <a:srgbClr val="FFFFFF"/>
                </a:solidFill>
                <a:latin typeface="Calibri" pitchFamily="34" charset="0"/>
                <a:ea typeface="Calibri" pitchFamily="34" charset="-122"/>
                <a:cs typeface="Calibri" pitchFamily="34" charset="-120"/>
              </a:rPr>
              <a:t>LEGITIMATE: 51 messages (50.5%)</a:t>
            </a:r>
            <a:endParaRPr lang="en-US" sz="1200" dirty="0"/>
          </a:p>
        </p:txBody>
      </p:sp>
      <p:sp>
        <p:nvSpPr>
          <p:cNvPr id="16" name="Shape 14"/>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Data Ethics &amp; UK GDPR Compliance</a:t>
            </a:r>
            <a:endParaRPr lang="en-US" sz="2800" dirty="0"/>
          </a:p>
        </p:txBody>
      </p:sp>
      <p:sp>
        <p:nvSpPr>
          <p:cNvPr id="4" name="Text 2"/>
          <p:cNvSpPr/>
          <p:nvPr/>
        </p:nvSpPr>
        <p:spPr>
          <a:xfrm>
            <a:off x="457200" y="694944"/>
            <a:ext cx="8229600" cy="347472"/>
          </a:xfrm>
          <a:prstGeom prst="rect">
            <a:avLst/>
          </a:prstGeom>
          <a:noFill/>
          <a:ln/>
        </p:spPr>
        <p:txBody>
          <a:bodyPr wrap="square" rtlCol="0" anchor="ctr"/>
          <a:lstStyle/>
          <a:p>
            <a:pPr indent="0" marL="0">
              <a:buNone/>
            </a:pPr>
            <a:r>
              <a:rPr lang="en-US" sz="1300" i="1" dirty="0">
                <a:solidFill>
                  <a:srgbClr val="6C757D"/>
                </a:solidFill>
                <a:latin typeface="Calibri" pitchFamily="34" charset="0"/>
                <a:ea typeface="Calibri" pitchFamily="34" charset="-122"/>
                <a:cs typeface="Calibri" pitchFamily="34" charset="-120"/>
              </a:rPr>
              <a:t>How this project was designed in accordance with the UK General Data Protection Regulation and Data Protection Act 2018</a:t>
            </a:r>
            <a:endParaRPr lang="en-US" sz="1300" dirty="0"/>
          </a:p>
        </p:txBody>
      </p:sp>
      <p:sp>
        <p:nvSpPr>
          <p:cNvPr id="5" name="Shape 3"/>
          <p:cNvSpPr/>
          <p:nvPr/>
        </p:nvSpPr>
        <p:spPr>
          <a:xfrm>
            <a:off x="320040" y="1170432"/>
            <a:ext cx="5212080" cy="768096"/>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6" name="Shape 4"/>
          <p:cNvSpPr/>
          <p:nvPr/>
        </p:nvSpPr>
        <p:spPr>
          <a:xfrm>
            <a:off x="320040" y="1170432"/>
            <a:ext cx="54864" cy="768096"/>
          </a:xfrm>
          <a:prstGeom prst="rect">
            <a:avLst/>
          </a:prstGeom>
          <a:solidFill>
            <a:srgbClr val="1E2761"/>
          </a:solidFill>
          <a:ln w="12700">
            <a:solidFill>
              <a:srgbClr val="1E2761"/>
            </a:solidFill>
            <a:prstDash val="solid"/>
          </a:ln>
        </p:spPr>
      </p:sp>
      <p:sp>
        <p:nvSpPr>
          <p:cNvPr id="7" name="Text 5"/>
          <p:cNvSpPr/>
          <p:nvPr/>
        </p:nvSpPr>
        <p:spPr>
          <a:xfrm>
            <a:off x="411480" y="1298448"/>
            <a:ext cx="54864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8" name="Text 6"/>
          <p:cNvSpPr/>
          <p:nvPr/>
        </p:nvSpPr>
        <p:spPr>
          <a:xfrm>
            <a:off x="1024128" y="1243584"/>
            <a:ext cx="434340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Synthetic Dataset</a:t>
            </a:r>
            <a:endParaRPr lang="en-US" sz="1200" dirty="0"/>
          </a:p>
        </p:txBody>
      </p:sp>
      <p:sp>
        <p:nvSpPr>
          <p:cNvPr id="9" name="Text 7"/>
          <p:cNvSpPr/>
          <p:nvPr/>
        </p:nvSpPr>
        <p:spPr>
          <a:xfrm>
            <a:off x="1024128" y="1499616"/>
            <a:ext cx="4343400" cy="384048"/>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All 101 training messages are entirely synthetic. No real personal data was collected, processed, or stored at any stage of this project.</a:t>
            </a:r>
            <a:endParaRPr lang="en-US" sz="1050" dirty="0"/>
          </a:p>
        </p:txBody>
      </p:sp>
      <p:sp>
        <p:nvSpPr>
          <p:cNvPr id="10" name="Shape 8"/>
          <p:cNvSpPr/>
          <p:nvPr/>
        </p:nvSpPr>
        <p:spPr>
          <a:xfrm>
            <a:off x="320040" y="2066544"/>
            <a:ext cx="5212080" cy="768096"/>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1" name="Shape 9"/>
          <p:cNvSpPr/>
          <p:nvPr/>
        </p:nvSpPr>
        <p:spPr>
          <a:xfrm>
            <a:off x="320040" y="2066544"/>
            <a:ext cx="54864" cy="768096"/>
          </a:xfrm>
          <a:prstGeom prst="rect">
            <a:avLst/>
          </a:prstGeom>
          <a:solidFill>
            <a:srgbClr val="1E2761"/>
          </a:solidFill>
          <a:ln w="12700">
            <a:solidFill>
              <a:srgbClr val="1E2761"/>
            </a:solidFill>
            <a:prstDash val="solid"/>
          </a:ln>
        </p:spPr>
      </p:sp>
      <p:sp>
        <p:nvSpPr>
          <p:cNvPr id="12" name="Text 10"/>
          <p:cNvSpPr/>
          <p:nvPr/>
        </p:nvSpPr>
        <p:spPr>
          <a:xfrm>
            <a:off x="411480" y="2194560"/>
            <a:ext cx="54864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3" name="Text 11"/>
          <p:cNvSpPr/>
          <p:nvPr/>
        </p:nvSpPr>
        <p:spPr>
          <a:xfrm>
            <a:off x="1024128" y="2139696"/>
            <a:ext cx="434340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Anonymisation Applied</a:t>
            </a:r>
            <a:endParaRPr lang="en-US" sz="1200" dirty="0"/>
          </a:p>
        </p:txBody>
      </p:sp>
      <p:sp>
        <p:nvSpPr>
          <p:cNvPr id="14" name="Text 12"/>
          <p:cNvSpPr/>
          <p:nvPr/>
        </p:nvSpPr>
        <p:spPr>
          <a:xfrm>
            <a:off x="1024128" y="2395728"/>
            <a:ext cx="4343400" cy="384048"/>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A formal GDPR review identified personal forenames and an email address in the dataset. All were anonymised before training — improving accuracy from 95.2% to 100%.</a:t>
            </a:r>
            <a:endParaRPr lang="en-US" sz="1050" dirty="0"/>
          </a:p>
        </p:txBody>
      </p:sp>
      <p:sp>
        <p:nvSpPr>
          <p:cNvPr id="15" name="Shape 13"/>
          <p:cNvSpPr/>
          <p:nvPr/>
        </p:nvSpPr>
        <p:spPr>
          <a:xfrm>
            <a:off x="320040" y="2962656"/>
            <a:ext cx="5212080" cy="768096"/>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6" name="Shape 14"/>
          <p:cNvSpPr/>
          <p:nvPr/>
        </p:nvSpPr>
        <p:spPr>
          <a:xfrm>
            <a:off x="320040" y="2962656"/>
            <a:ext cx="54864" cy="768096"/>
          </a:xfrm>
          <a:prstGeom prst="rect">
            <a:avLst/>
          </a:prstGeom>
          <a:solidFill>
            <a:srgbClr val="1E2761"/>
          </a:solidFill>
          <a:ln w="12700">
            <a:solidFill>
              <a:srgbClr val="1E2761"/>
            </a:solidFill>
            <a:prstDash val="solid"/>
          </a:ln>
        </p:spPr>
      </p:sp>
      <p:sp>
        <p:nvSpPr>
          <p:cNvPr id="17" name="Text 15"/>
          <p:cNvSpPr/>
          <p:nvPr/>
        </p:nvSpPr>
        <p:spPr>
          <a:xfrm>
            <a:off x="411480" y="3090672"/>
            <a:ext cx="54864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18" name="Text 16"/>
          <p:cNvSpPr/>
          <p:nvPr/>
        </p:nvSpPr>
        <p:spPr>
          <a:xfrm>
            <a:off x="1024128" y="3035808"/>
            <a:ext cx="434340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Lawful Basis Documented</a:t>
            </a:r>
            <a:endParaRPr lang="en-US" sz="1200" dirty="0"/>
          </a:p>
        </p:txBody>
      </p:sp>
      <p:sp>
        <p:nvSpPr>
          <p:cNvPr id="19" name="Text 17"/>
          <p:cNvSpPr/>
          <p:nvPr/>
        </p:nvSpPr>
        <p:spPr>
          <a:xfrm>
            <a:off x="1024128" y="3291840"/>
            <a:ext cx="4343400" cy="384048"/>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If deployed for real use, the lawful basis (Legitimate Interests or Consent under Article 6 UK GDPR) must be identified and documented before any data is processed.</a:t>
            </a:r>
            <a:endParaRPr lang="en-US" sz="1050" dirty="0"/>
          </a:p>
        </p:txBody>
      </p:sp>
      <p:sp>
        <p:nvSpPr>
          <p:cNvPr id="20" name="Shape 18"/>
          <p:cNvSpPr/>
          <p:nvPr/>
        </p:nvSpPr>
        <p:spPr>
          <a:xfrm>
            <a:off x="320040" y="3858768"/>
            <a:ext cx="5212080" cy="768096"/>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21" name="Shape 19"/>
          <p:cNvSpPr/>
          <p:nvPr/>
        </p:nvSpPr>
        <p:spPr>
          <a:xfrm>
            <a:off x="320040" y="3858768"/>
            <a:ext cx="54864" cy="768096"/>
          </a:xfrm>
          <a:prstGeom prst="rect">
            <a:avLst/>
          </a:prstGeom>
          <a:solidFill>
            <a:srgbClr val="1E2761"/>
          </a:solidFill>
          <a:ln w="12700">
            <a:solidFill>
              <a:srgbClr val="1E2761"/>
            </a:solidFill>
            <a:prstDash val="solid"/>
          </a:ln>
        </p:spPr>
      </p:sp>
      <p:sp>
        <p:nvSpPr>
          <p:cNvPr id="22" name="Text 20"/>
          <p:cNvSpPr/>
          <p:nvPr/>
        </p:nvSpPr>
        <p:spPr>
          <a:xfrm>
            <a:off x="411480" y="3986784"/>
            <a:ext cx="548640" cy="502920"/>
          </a:xfrm>
          <a:prstGeom prst="rect">
            <a:avLst/>
          </a:prstGeom>
          <a:noFill/>
          <a:ln/>
        </p:spPr>
        <p:txBody>
          <a:bodyPr wrap="square" rtlCol="0" anchor="ctr"/>
          <a:lstStyle/>
          <a:p>
            <a:pPr algn="ctr" indent="0" marL="0">
              <a:buNone/>
            </a:pPr>
            <a:r>
              <a:rPr lang="en-US" sz="2000" dirty="0">
                <a:solidFill>
                  <a:srgbClr val="000000"/>
                </a:solidFill>
              </a:rPr>
              <a:t>👤</a:t>
            </a:r>
            <a:endParaRPr lang="en-US" sz="2000" dirty="0"/>
          </a:p>
        </p:txBody>
      </p:sp>
      <p:sp>
        <p:nvSpPr>
          <p:cNvPr id="23" name="Text 21"/>
          <p:cNvSpPr/>
          <p:nvPr/>
        </p:nvSpPr>
        <p:spPr>
          <a:xfrm>
            <a:off x="1024128" y="3931920"/>
            <a:ext cx="4343400" cy="274320"/>
          </a:xfrm>
          <a:prstGeom prst="rect">
            <a:avLst/>
          </a:prstGeom>
          <a:noFill/>
          <a:ln/>
        </p:spPr>
        <p:txBody>
          <a:bodyPr wrap="square" rtlCol="0" anchor="ctr"/>
          <a:lstStyle/>
          <a:p>
            <a:pPr indent="0" marL="0">
              <a:buNone/>
            </a:pPr>
            <a:r>
              <a:rPr lang="en-US" sz="1200" b="1" dirty="0">
                <a:solidFill>
                  <a:srgbClr val="1E2761"/>
                </a:solidFill>
                <a:latin typeface="Calibri" pitchFamily="34" charset="0"/>
                <a:ea typeface="Calibri" pitchFamily="34" charset="-122"/>
                <a:cs typeface="Calibri" pitchFamily="34" charset="-120"/>
              </a:rPr>
              <a:t>Human Oversight Required</a:t>
            </a:r>
            <a:endParaRPr lang="en-US" sz="1200" dirty="0"/>
          </a:p>
        </p:txBody>
      </p:sp>
      <p:sp>
        <p:nvSpPr>
          <p:cNvPr id="24" name="Text 22"/>
          <p:cNvSpPr/>
          <p:nvPr/>
        </p:nvSpPr>
        <p:spPr>
          <a:xfrm>
            <a:off x="1024128" y="4187952"/>
            <a:ext cx="4343400" cy="384048"/>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Article 22 UK GDPR protects individuals from solely automated decisions. This model must support human review — not replace it — in any production environment.</a:t>
            </a:r>
            <a:endParaRPr lang="en-US" sz="1050" dirty="0"/>
          </a:p>
        </p:txBody>
      </p:sp>
      <p:sp>
        <p:nvSpPr>
          <p:cNvPr id="25" name="Shape 23"/>
          <p:cNvSpPr/>
          <p:nvPr/>
        </p:nvSpPr>
        <p:spPr>
          <a:xfrm>
            <a:off x="5760720" y="1170432"/>
            <a:ext cx="3063240" cy="1883664"/>
          </a:xfrm>
          <a:prstGeom prst="rect">
            <a:avLst/>
          </a:prstGeom>
          <a:solidFill>
            <a:srgbClr val="1E2761"/>
          </a:solidFill>
          <a:ln w="12700">
            <a:solidFill>
              <a:srgbClr val="1E2761"/>
            </a:solidFill>
            <a:prstDash val="solid"/>
          </a:ln>
          <a:effectLst>
            <a:outerShdw sx="100000" sy="100000" kx="0" ky="0" algn="bl" rotWithShape="0" blurRad="76200" dist="38100" dir="8100000">
              <a:srgbClr val="000000">
                <a:alpha val="12000"/>
              </a:srgbClr>
            </a:outerShdw>
          </a:effectLst>
        </p:spPr>
      </p:sp>
      <p:sp>
        <p:nvSpPr>
          <p:cNvPr id="26" name="Text 24"/>
          <p:cNvSpPr/>
          <p:nvPr/>
        </p:nvSpPr>
        <p:spPr>
          <a:xfrm>
            <a:off x="5760720" y="1243584"/>
            <a:ext cx="3063240" cy="310896"/>
          </a:xfrm>
          <a:prstGeom prst="rect">
            <a:avLst/>
          </a:prstGeom>
          <a:noFill/>
          <a:ln/>
        </p:spPr>
        <p:txBody>
          <a:bodyPr wrap="square"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UK Legal Framework</a:t>
            </a:r>
            <a:endParaRPr lang="en-US" sz="1300" dirty="0"/>
          </a:p>
        </p:txBody>
      </p:sp>
      <p:sp>
        <p:nvSpPr>
          <p:cNvPr id="27" name="Text 25"/>
          <p:cNvSpPr/>
          <p:nvPr/>
        </p:nvSpPr>
        <p:spPr>
          <a:xfrm>
            <a:off x="5870448" y="1554480"/>
            <a:ext cx="2834640" cy="1389888"/>
          </a:xfrm>
          <a:prstGeom prst="rect">
            <a:avLst/>
          </a:prstGeom>
          <a:noFill/>
          <a:ln/>
        </p:spPr>
        <p:txBody>
          <a:bodyPr wrap="square" rtlCol="0" anchor="ctr"/>
          <a:lstStyle/>
          <a:p>
            <a:pPr marL="342900" indent="-342900">
              <a:buSzPct val="100000"/>
              <a:buChar char="•"/>
            </a:pPr>
            <a:r>
              <a:rPr lang="en-US" sz="1100" dirty="0">
                <a:solidFill>
                  <a:srgbClr val="E8EEF8"/>
                </a:solidFill>
                <a:latin typeface="Calibri" pitchFamily="34" charset="0"/>
                <a:ea typeface="Calibri" pitchFamily="34" charset="-122"/>
                <a:cs typeface="Calibri" pitchFamily="34" charset="-120"/>
              </a:rPr>
              <a:t>UK GDPR (retained EU law)</a:t>
            </a:r>
            <a:endParaRPr lang="en-US" sz="1100" dirty="0"/>
          </a:p>
          <a:p>
            <a:pPr marL="342900" indent="-342900">
              <a:buSzPct val="100000"/>
              <a:buChar char="•"/>
            </a:pPr>
            <a:r>
              <a:rPr lang="en-US" sz="1100" dirty="0">
                <a:solidFill>
                  <a:srgbClr val="E8EEF8"/>
                </a:solidFill>
                <a:latin typeface="Calibri" pitchFamily="34" charset="0"/>
                <a:ea typeface="Calibri" pitchFamily="34" charset="-122"/>
                <a:cs typeface="Calibri" pitchFamily="34" charset="-120"/>
              </a:rPr>
              <a:t>Data Protection Act 2018</a:t>
            </a:r>
            <a:endParaRPr lang="en-US" sz="1100" dirty="0"/>
          </a:p>
          <a:p>
            <a:pPr marL="342900" indent="-342900">
              <a:buSzPct val="100000"/>
              <a:buChar char="•"/>
            </a:pPr>
            <a:r>
              <a:rPr lang="en-US" sz="1100" dirty="0">
                <a:solidFill>
                  <a:srgbClr val="E8EEF8"/>
                </a:solidFill>
                <a:latin typeface="Calibri" pitchFamily="34" charset="0"/>
                <a:ea typeface="Calibri" pitchFamily="34" charset="-122"/>
                <a:cs typeface="Calibri" pitchFamily="34" charset="-120"/>
              </a:rPr>
              <a:t>ICO Enforcement Authority</a:t>
            </a:r>
            <a:endParaRPr lang="en-US" sz="1100" dirty="0"/>
          </a:p>
          <a:p>
            <a:pPr indent="0" marL="0">
              <a:buNone/>
            </a:pPr>
            <a:r>
              <a:rPr lang="en-US" sz="1100" dirty="0">
                <a:solidFill>
                  <a:srgbClr val="F1948A"/>
                </a:solidFill>
                <a:latin typeface="Calibri" pitchFamily="34" charset="0"/>
                <a:ea typeface="Calibri" pitchFamily="34" charset="-122"/>
                <a:cs typeface="Calibri" pitchFamily="34" charset="-120"/>
              </a:rPr>
              <a:t>Max fine: £17.5M or 4%</a:t>
            </a:r>
            <a:endParaRPr lang="en-US" sz="1100" dirty="0"/>
          </a:p>
          <a:p>
            <a:pPr indent="0" marL="0">
              <a:buNone/>
            </a:pPr>
            <a:r>
              <a:rPr lang="en-US" sz="1100" dirty="0">
                <a:solidFill>
                  <a:srgbClr val="F1948A"/>
                </a:solidFill>
                <a:latin typeface="Calibri" pitchFamily="34" charset="0"/>
                <a:ea typeface="Calibri" pitchFamily="34" charset="-122"/>
                <a:cs typeface="Calibri" pitchFamily="34" charset="-120"/>
              </a:rPr>
              <a:t>of global annual turnover</a:t>
            </a:r>
            <a:endParaRPr lang="en-US" sz="1100" dirty="0"/>
          </a:p>
          <a:p>
            <a:pPr marL="342900" indent="-342900">
              <a:buSzPct val="100000"/>
              <a:buChar char="•"/>
            </a:pPr>
            <a:r>
              <a:rPr lang="en-US" sz="1100" dirty="0">
                <a:solidFill>
                  <a:srgbClr val="E8EEF8"/>
                </a:solidFill>
                <a:latin typeface="Calibri" pitchFamily="34" charset="0"/>
                <a:ea typeface="Calibri" pitchFamily="34" charset="-122"/>
                <a:cs typeface="Calibri" pitchFamily="34" charset="-120"/>
              </a:rPr>
              <a:t>7 Data Protection Principles</a:t>
            </a:r>
            <a:endParaRPr lang="en-US" sz="1100" dirty="0"/>
          </a:p>
          <a:p>
            <a:pPr marL="342900" indent="-342900">
              <a:buSzPct val="100000"/>
              <a:buChar char="•"/>
            </a:pPr>
            <a:r>
              <a:rPr lang="en-US" sz="1100" dirty="0">
                <a:solidFill>
                  <a:srgbClr val="E8EEF8"/>
                </a:solidFill>
                <a:latin typeface="Calibri" pitchFamily="34" charset="0"/>
                <a:ea typeface="Calibri" pitchFamily="34" charset="-122"/>
                <a:cs typeface="Calibri" pitchFamily="34" charset="-120"/>
              </a:rPr>
              <a:t>6 Lawful Bases for Processing</a:t>
            </a:r>
            <a:endParaRPr lang="en-US" sz="1100" dirty="0"/>
          </a:p>
          <a:p>
            <a:pPr indent="0" marL="0">
              <a:buNone/>
            </a:pPr>
            <a:endParaRPr lang="en-US" sz="1100" dirty="0"/>
          </a:p>
        </p:txBody>
      </p:sp>
      <p:sp>
        <p:nvSpPr>
          <p:cNvPr id="28" name="Shape 26"/>
          <p:cNvSpPr/>
          <p:nvPr/>
        </p:nvSpPr>
        <p:spPr>
          <a:xfrm>
            <a:off x="5760720" y="3200400"/>
            <a:ext cx="3063240" cy="1591056"/>
          </a:xfrm>
          <a:prstGeom prst="rect">
            <a:avLst/>
          </a:prstGeom>
          <a:solidFill>
            <a:srgbClr val="1A6B3C"/>
          </a:solidFill>
          <a:ln w="12700">
            <a:solidFill>
              <a:srgbClr val="1A6B3C"/>
            </a:solidFill>
            <a:prstDash val="solid"/>
          </a:ln>
          <a:effectLst>
            <a:outerShdw sx="100000" sy="100000" kx="0" ky="0" algn="bl" rotWithShape="0" blurRad="76200" dist="38100" dir="8100000">
              <a:srgbClr val="000000">
                <a:alpha val="12000"/>
              </a:srgbClr>
            </a:outerShdw>
          </a:effectLst>
        </p:spPr>
      </p:sp>
      <p:sp>
        <p:nvSpPr>
          <p:cNvPr id="29" name="Text 27"/>
          <p:cNvSpPr/>
          <p:nvPr/>
        </p:nvSpPr>
        <p:spPr>
          <a:xfrm>
            <a:off x="5760720" y="3273552"/>
            <a:ext cx="3063240" cy="310896"/>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Privacy-by-Design Result</a:t>
            </a:r>
            <a:endParaRPr lang="en-US" sz="1200" dirty="0"/>
          </a:p>
        </p:txBody>
      </p:sp>
      <p:sp>
        <p:nvSpPr>
          <p:cNvPr id="30" name="Text 28"/>
          <p:cNvSpPr/>
          <p:nvPr/>
        </p:nvSpPr>
        <p:spPr>
          <a:xfrm>
            <a:off x="5870448" y="3566160"/>
            <a:ext cx="2834640" cy="548640"/>
          </a:xfrm>
          <a:prstGeom prst="rect">
            <a:avLst/>
          </a:prstGeom>
          <a:noFill/>
          <a:ln/>
        </p:spPr>
        <p:txBody>
          <a:bodyPr wrap="square" rtlCol="0" anchor="ctr"/>
          <a:lstStyle/>
          <a:p>
            <a:pPr algn="ctr" indent="0" marL="0">
              <a:buNone/>
            </a:pPr>
            <a:r>
              <a:rPr lang="en-US" sz="1100" dirty="0">
                <a:solidFill>
                  <a:srgbClr val="A9DFBF"/>
                </a:solidFill>
                <a:latin typeface="Calibri" pitchFamily="34" charset="0"/>
                <a:ea typeface="Calibri" pitchFamily="34" charset="-122"/>
                <a:cs typeface="Calibri" pitchFamily="34" charset="-120"/>
              </a:rPr>
              <a:t>Anonymising personal</a:t>
            </a:r>
            <a:endParaRPr lang="en-US" sz="1100" dirty="0"/>
          </a:p>
          <a:p>
            <a:pPr algn="ctr" indent="0" marL="0">
              <a:buNone/>
            </a:pPr>
            <a:r>
              <a:rPr lang="en-US" sz="1100" dirty="0">
                <a:solidFill>
                  <a:srgbClr val="A9DFBF"/>
                </a:solidFill>
                <a:latin typeface="Calibri" pitchFamily="34" charset="0"/>
                <a:ea typeface="Calibri" pitchFamily="34" charset="-122"/>
                <a:cs typeface="Calibri" pitchFamily="34" charset="-120"/>
              </a:rPr>
              <a:t>identifiers was not only</a:t>
            </a:r>
            <a:endParaRPr lang="en-US" sz="1100" dirty="0"/>
          </a:p>
          <a:p>
            <a:pPr algn="ctr" indent="0" marL="0">
              <a:buNone/>
            </a:pPr>
            <a:r>
              <a:rPr lang="en-US" sz="1100" dirty="0">
                <a:solidFill>
                  <a:srgbClr val="A9DFBF"/>
                </a:solidFill>
                <a:latin typeface="Calibri" pitchFamily="34" charset="0"/>
                <a:ea typeface="Calibri" pitchFamily="34" charset="-122"/>
                <a:cs typeface="Calibri" pitchFamily="34" charset="-120"/>
              </a:rPr>
              <a:t>a legal obligation —</a:t>
            </a:r>
            <a:endParaRPr lang="en-US" sz="1100" dirty="0"/>
          </a:p>
        </p:txBody>
      </p:sp>
      <p:sp>
        <p:nvSpPr>
          <p:cNvPr id="31" name="Text 29"/>
          <p:cNvSpPr/>
          <p:nvPr/>
        </p:nvSpPr>
        <p:spPr>
          <a:xfrm>
            <a:off x="5870448" y="4078224"/>
            <a:ext cx="2834640" cy="548640"/>
          </a:xfrm>
          <a:prstGeom prst="rect">
            <a:avLst/>
          </a:prstGeom>
          <a:noFill/>
          <a:ln/>
        </p:spPr>
        <p:txBody>
          <a:bodyPr wrap="square" rtlCol="0" anchor="ctr"/>
          <a:lstStyle/>
          <a:p>
            <a:pPr algn="ctr" indent="0" marL="0">
              <a:buNone/>
            </a:pPr>
            <a:r>
              <a:rPr lang="en-US" sz="1400" b="1" dirty="0">
                <a:solidFill>
                  <a:srgbClr val="FFFFFF"/>
                </a:solidFill>
                <a:latin typeface="Georgia" pitchFamily="34" charset="0"/>
                <a:ea typeface="Georgia" pitchFamily="34" charset="-122"/>
                <a:cs typeface="Georgia" pitchFamily="34" charset="-120"/>
              </a:rPr>
              <a:t>it improved accuracy</a:t>
            </a:r>
            <a:endParaRPr lang="en-US" sz="1400" dirty="0"/>
          </a:p>
          <a:p>
            <a:pPr algn="ctr" indent="0" marL="0">
              <a:buNone/>
            </a:pPr>
            <a:r>
              <a:rPr lang="en-US" sz="1400" b="1" dirty="0">
                <a:solidFill>
                  <a:srgbClr val="FFFFFF"/>
                </a:solidFill>
                <a:latin typeface="Georgia" pitchFamily="34" charset="0"/>
                <a:ea typeface="Georgia" pitchFamily="34" charset="-122"/>
                <a:cs typeface="Georgia" pitchFamily="34" charset="-120"/>
              </a:rPr>
              <a:t>from 95.2% → 100%</a:t>
            </a:r>
            <a:endParaRPr lang="en-US" sz="1400" dirty="0"/>
          </a:p>
        </p:txBody>
      </p:sp>
      <p:sp>
        <p:nvSpPr>
          <p:cNvPr id="32" name="Shape 30"/>
          <p:cNvSpPr/>
          <p:nvPr/>
        </p:nvSpPr>
        <p:spPr>
          <a:xfrm>
            <a:off x="320040" y="4681728"/>
            <a:ext cx="8503920" cy="274320"/>
          </a:xfrm>
          <a:prstGeom prst="rect">
            <a:avLst/>
          </a:prstGeom>
          <a:solidFill>
            <a:srgbClr val="EBF3FB"/>
          </a:solidFill>
          <a:ln w="12700">
            <a:solidFill>
              <a:srgbClr val="A9CCE3"/>
            </a:solidFill>
            <a:prstDash val="solid"/>
          </a:ln>
        </p:spPr>
      </p:sp>
      <p:sp>
        <p:nvSpPr>
          <p:cNvPr id="33" name="Text 31"/>
          <p:cNvSpPr/>
          <p:nvPr/>
        </p:nvSpPr>
        <p:spPr>
          <a:xfrm>
            <a:off x="457200" y="4700016"/>
            <a:ext cx="8229600" cy="237744"/>
          </a:xfrm>
          <a:prstGeom prst="rect">
            <a:avLst/>
          </a:prstGeom>
          <a:noFill/>
          <a:ln/>
        </p:spPr>
        <p:txBody>
          <a:bodyPr wrap="square" rtlCol="0" anchor="ctr"/>
          <a:lstStyle/>
          <a:p>
            <a:pPr algn="ctr" indent="0" marL="0">
              <a:buNone/>
            </a:pPr>
            <a:r>
              <a:rPr lang="en-US" sz="950" dirty="0">
                <a:solidFill>
                  <a:srgbClr val="1E2761"/>
                </a:solidFill>
                <a:latin typeface="Calibri" pitchFamily="34" charset="0"/>
                <a:ea typeface="Calibri" pitchFamily="34" charset="-122"/>
                <a:cs typeface="Calibri" pitchFamily="34" charset="-120"/>
              </a:rPr>
              <a:t>Regulatory Authority: Information Commissioner's Office (ICO) — ico.org.uk  ·  Guidance on AI &amp; Data Protection: ico.org.uk/AI  ·  Registration required for commercial deployment</a:t>
            </a:r>
            <a:endParaRPr lang="en-US" sz="950" dirty="0"/>
          </a:p>
        </p:txBody>
      </p:sp>
      <p:sp>
        <p:nvSpPr>
          <p:cNvPr id="34" name="Shape 32"/>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w="12700">
            <a:solidFill>
              <a:srgbClr val="C0392B"/>
            </a:solidFill>
            <a:prstDash val="solid"/>
          </a:ln>
        </p:spPr>
      </p:sp>
      <p:sp>
        <p:nvSpPr>
          <p:cNvPr id="3" name="Text 1"/>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The Results</a:t>
            </a:r>
            <a:endParaRPr lang="en-US" sz="3200" dirty="0"/>
          </a:p>
        </p:txBody>
      </p:sp>
      <p:sp>
        <p:nvSpPr>
          <p:cNvPr id="4" name="Text 2"/>
          <p:cNvSpPr/>
          <p:nvPr/>
        </p:nvSpPr>
        <p:spPr>
          <a:xfrm>
            <a:off x="457200" y="749808"/>
            <a:ext cx="8229600" cy="347472"/>
          </a:xfrm>
          <a:prstGeom prst="rect">
            <a:avLst/>
          </a:prstGeom>
          <a:noFill/>
          <a:ln/>
        </p:spPr>
        <p:txBody>
          <a:bodyPr wrap="square" rtlCol="0" anchor="ctr"/>
          <a:lstStyle/>
          <a:p>
            <a:pPr indent="0" marL="0">
              <a:buNone/>
            </a:pPr>
            <a:r>
              <a:rPr lang="en-US" sz="1400" i="1" dirty="0">
                <a:solidFill>
                  <a:srgbClr val="A9CCE3"/>
                </a:solidFill>
                <a:latin typeface="Calibri" pitchFamily="34" charset="0"/>
                <a:ea typeface="Calibri" pitchFamily="34" charset="-122"/>
                <a:cs typeface="Calibri" pitchFamily="34" charset="-120"/>
              </a:rPr>
              <a:t>What the model achieved on messages it had never seen before</a:t>
            </a:r>
            <a:endParaRPr lang="en-US" sz="1400" dirty="0"/>
          </a:p>
        </p:txBody>
      </p:sp>
      <p:sp>
        <p:nvSpPr>
          <p:cNvPr id="5" name="Shape 3"/>
          <p:cNvSpPr/>
          <p:nvPr/>
        </p:nvSpPr>
        <p:spPr>
          <a:xfrm>
            <a:off x="320040" y="1298448"/>
            <a:ext cx="1920240" cy="2697480"/>
          </a:xfrm>
          <a:prstGeom prst="rect">
            <a:avLst/>
          </a:prstGeom>
          <a:solidFill>
            <a:srgbClr val="FFFFFF">
              <a:alpha val="10000"/>
            </a:srgbClr>
          </a:solidFill>
          <a:ln w="25400">
            <a:solidFill>
              <a:srgbClr val="27AE60"/>
            </a:solidFill>
            <a:prstDash val="solid"/>
          </a:ln>
          <a:effectLst>
            <a:outerShdw sx="100000" sy="100000" kx="0" ky="0" algn="bl" rotWithShape="0" blurRad="76200" dist="38100" dir="8100000">
              <a:srgbClr val="000000">
                <a:alpha val="12000"/>
              </a:srgbClr>
            </a:outerShdw>
          </a:effectLst>
        </p:spPr>
      </p:sp>
      <p:sp>
        <p:nvSpPr>
          <p:cNvPr id="6" name="Shape 4"/>
          <p:cNvSpPr/>
          <p:nvPr/>
        </p:nvSpPr>
        <p:spPr>
          <a:xfrm>
            <a:off x="320040" y="1298448"/>
            <a:ext cx="1920240" cy="274320"/>
          </a:xfrm>
          <a:prstGeom prst="rect">
            <a:avLst/>
          </a:prstGeom>
          <a:solidFill>
            <a:srgbClr val="27AE60"/>
          </a:solidFill>
          <a:ln w="12700">
            <a:solidFill>
              <a:srgbClr val="27AE60"/>
            </a:solidFill>
            <a:prstDash val="solid"/>
          </a:ln>
        </p:spPr>
      </p:sp>
      <p:sp>
        <p:nvSpPr>
          <p:cNvPr id="7" name="Text 5"/>
          <p:cNvSpPr/>
          <p:nvPr/>
        </p:nvSpPr>
        <p:spPr>
          <a:xfrm>
            <a:off x="320040" y="1572768"/>
            <a:ext cx="1920240" cy="9601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100%</a:t>
            </a:r>
            <a:endParaRPr lang="en-US" sz="4000" dirty="0"/>
          </a:p>
        </p:txBody>
      </p:sp>
      <p:sp>
        <p:nvSpPr>
          <p:cNvPr id="8" name="Text 6"/>
          <p:cNvSpPr/>
          <p:nvPr/>
        </p:nvSpPr>
        <p:spPr>
          <a:xfrm>
            <a:off x="320040" y="2505456"/>
            <a:ext cx="1920240" cy="475488"/>
          </a:xfrm>
          <a:prstGeom prst="rect">
            <a:avLst/>
          </a:prstGeom>
          <a:noFill/>
          <a:ln/>
        </p:spPr>
        <p:txBody>
          <a:bodyPr wrap="square" rtlCol="0" anchor="ctr"/>
          <a:lstStyle/>
          <a:p>
            <a:pPr algn="ctr" indent="0" marL="0">
              <a:buNone/>
            </a:pPr>
            <a:r>
              <a:rPr lang="en-US" sz="1300" b="1" dirty="0">
                <a:solidFill>
                  <a:srgbClr val="A9CCE3"/>
                </a:solidFill>
                <a:latin typeface="Calibri" pitchFamily="34" charset="0"/>
                <a:ea typeface="Calibri" pitchFamily="34" charset="-122"/>
                <a:cs typeface="Calibri" pitchFamily="34" charset="-120"/>
              </a:rPr>
              <a:t>Overall</a:t>
            </a:r>
            <a:endParaRPr lang="en-US" sz="1300" dirty="0"/>
          </a:p>
          <a:p>
            <a:pPr algn="ctr" indent="0" marL="0">
              <a:buNone/>
            </a:pPr>
            <a:r>
              <a:rPr lang="en-US" sz="1300" b="1" dirty="0">
                <a:solidFill>
                  <a:srgbClr val="A9CCE3"/>
                </a:solidFill>
                <a:latin typeface="Calibri" pitchFamily="34" charset="0"/>
                <a:ea typeface="Calibri" pitchFamily="34" charset="-122"/>
                <a:cs typeface="Calibri" pitchFamily="34" charset="-120"/>
              </a:rPr>
              <a:t>Accuracy</a:t>
            </a:r>
            <a:endParaRPr lang="en-US" sz="1300" dirty="0"/>
          </a:p>
        </p:txBody>
      </p:sp>
      <p:sp>
        <p:nvSpPr>
          <p:cNvPr id="9" name="Text 7"/>
          <p:cNvSpPr/>
          <p:nvPr/>
        </p:nvSpPr>
        <p:spPr>
          <a:xfrm>
            <a:off x="365760" y="2944368"/>
            <a:ext cx="1828800" cy="822960"/>
          </a:xfrm>
          <a:prstGeom prst="rect">
            <a:avLst/>
          </a:prstGeom>
          <a:noFill/>
          <a:ln/>
        </p:spPr>
        <p:txBody>
          <a:bodyPr wrap="square" rtlCol="0" anchor="ctr"/>
          <a:lstStyle/>
          <a:p>
            <a:pPr algn="ctr" indent="0" marL="0">
              <a:buNone/>
            </a:pPr>
            <a:r>
              <a:rPr lang="en-US" sz="1000" dirty="0">
                <a:solidFill>
                  <a:srgbClr val="E8EEF8"/>
                </a:solidFill>
                <a:latin typeface="Calibri" pitchFamily="34" charset="0"/>
                <a:ea typeface="Calibri" pitchFamily="34" charset="-122"/>
                <a:cs typeface="Calibri" pitchFamily="34" charset="-120"/>
              </a:rPr>
              <a:t>21 out of 21 messages</a:t>
            </a:r>
            <a:endParaRPr lang="en-US" sz="1000" dirty="0"/>
          </a:p>
          <a:p>
            <a:pPr algn="ctr" indent="0" marL="0">
              <a:buNone/>
            </a:pPr>
            <a:r>
              <a:rPr lang="en-US" sz="1000" dirty="0">
                <a:solidFill>
                  <a:srgbClr val="E8EEF8"/>
                </a:solidFill>
                <a:latin typeface="Calibri" pitchFamily="34" charset="0"/>
                <a:ea typeface="Calibri" pitchFamily="34" charset="-122"/>
                <a:cs typeface="Calibri" pitchFamily="34" charset="-120"/>
              </a:rPr>
              <a:t>correctly classified</a:t>
            </a:r>
            <a:endParaRPr lang="en-US" sz="1000" dirty="0"/>
          </a:p>
        </p:txBody>
      </p:sp>
      <p:sp>
        <p:nvSpPr>
          <p:cNvPr id="10" name="Shape 8"/>
          <p:cNvSpPr/>
          <p:nvPr/>
        </p:nvSpPr>
        <p:spPr>
          <a:xfrm>
            <a:off x="2423160" y="1298448"/>
            <a:ext cx="1920240" cy="2697480"/>
          </a:xfrm>
          <a:prstGeom prst="rect">
            <a:avLst/>
          </a:prstGeom>
          <a:solidFill>
            <a:srgbClr val="FFFFFF">
              <a:alpha val="10000"/>
            </a:srgbClr>
          </a:solidFill>
          <a:ln w="25400">
            <a:solidFill>
              <a:srgbClr val="E74C3C"/>
            </a:solidFill>
            <a:prstDash val="solid"/>
          </a:ln>
          <a:effectLst>
            <a:outerShdw sx="100000" sy="100000" kx="0" ky="0" algn="bl" rotWithShape="0" blurRad="76200" dist="38100" dir="8100000">
              <a:srgbClr val="000000">
                <a:alpha val="12000"/>
              </a:srgbClr>
            </a:outerShdw>
          </a:effectLst>
        </p:spPr>
      </p:sp>
      <p:sp>
        <p:nvSpPr>
          <p:cNvPr id="11" name="Shape 9"/>
          <p:cNvSpPr/>
          <p:nvPr/>
        </p:nvSpPr>
        <p:spPr>
          <a:xfrm>
            <a:off x="2423160" y="1298448"/>
            <a:ext cx="1920240" cy="274320"/>
          </a:xfrm>
          <a:prstGeom prst="rect">
            <a:avLst/>
          </a:prstGeom>
          <a:solidFill>
            <a:srgbClr val="E74C3C"/>
          </a:solidFill>
          <a:ln w="12700">
            <a:solidFill>
              <a:srgbClr val="E74C3C"/>
            </a:solidFill>
            <a:prstDash val="solid"/>
          </a:ln>
        </p:spPr>
      </p:sp>
      <p:sp>
        <p:nvSpPr>
          <p:cNvPr id="12" name="Text 10"/>
          <p:cNvSpPr/>
          <p:nvPr/>
        </p:nvSpPr>
        <p:spPr>
          <a:xfrm>
            <a:off x="2423160" y="1572768"/>
            <a:ext cx="1920240" cy="9601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100%</a:t>
            </a:r>
            <a:endParaRPr lang="en-US" sz="4000" dirty="0"/>
          </a:p>
        </p:txBody>
      </p:sp>
      <p:sp>
        <p:nvSpPr>
          <p:cNvPr id="13" name="Text 11"/>
          <p:cNvSpPr/>
          <p:nvPr/>
        </p:nvSpPr>
        <p:spPr>
          <a:xfrm>
            <a:off x="2423160" y="2505456"/>
            <a:ext cx="1920240" cy="475488"/>
          </a:xfrm>
          <a:prstGeom prst="rect">
            <a:avLst/>
          </a:prstGeom>
          <a:noFill/>
          <a:ln/>
        </p:spPr>
        <p:txBody>
          <a:bodyPr wrap="square" rtlCol="0" anchor="ctr"/>
          <a:lstStyle/>
          <a:p>
            <a:pPr algn="ctr" indent="0" marL="0">
              <a:buNone/>
            </a:pPr>
            <a:r>
              <a:rPr lang="en-US" sz="1300" b="1" dirty="0">
                <a:solidFill>
                  <a:srgbClr val="A9CCE3"/>
                </a:solidFill>
                <a:latin typeface="Calibri" pitchFamily="34" charset="0"/>
                <a:ea typeface="Calibri" pitchFamily="34" charset="-122"/>
                <a:cs typeface="Calibri" pitchFamily="34" charset="-120"/>
              </a:rPr>
              <a:t>SCAM</a:t>
            </a:r>
            <a:endParaRPr lang="en-US" sz="1300" dirty="0"/>
          </a:p>
          <a:p>
            <a:pPr algn="ctr" indent="0" marL="0">
              <a:buNone/>
            </a:pPr>
            <a:r>
              <a:rPr lang="en-US" sz="1300" b="1" dirty="0">
                <a:solidFill>
                  <a:srgbClr val="A9CCE3"/>
                </a:solidFill>
                <a:latin typeface="Calibri" pitchFamily="34" charset="0"/>
                <a:ea typeface="Calibri" pitchFamily="34" charset="-122"/>
                <a:cs typeface="Calibri" pitchFamily="34" charset="-120"/>
              </a:rPr>
              <a:t>Recall</a:t>
            </a:r>
            <a:endParaRPr lang="en-US" sz="1300" dirty="0"/>
          </a:p>
        </p:txBody>
      </p:sp>
      <p:sp>
        <p:nvSpPr>
          <p:cNvPr id="14" name="Text 12"/>
          <p:cNvSpPr/>
          <p:nvPr/>
        </p:nvSpPr>
        <p:spPr>
          <a:xfrm>
            <a:off x="2468880" y="2944368"/>
            <a:ext cx="1828800" cy="822960"/>
          </a:xfrm>
          <a:prstGeom prst="rect">
            <a:avLst/>
          </a:prstGeom>
          <a:noFill/>
          <a:ln/>
        </p:spPr>
        <p:txBody>
          <a:bodyPr wrap="square" rtlCol="0" anchor="ctr"/>
          <a:lstStyle/>
          <a:p>
            <a:pPr algn="ctr" indent="0" marL="0">
              <a:buNone/>
            </a:pPr>
            <a:r>
              <a:rPr lang="en-US" sz="1000" dirty="0">
                <a:solidFill>
                  <a:srgbClr val="E8EEF8"/>
                </a:solidFill>
                <a:latin typeface="Calibri" pitchFamily="34" charset="0"/>
                <a:ea typeface="Calibri" pitchFamily="34" charset="-122"/>
                <a:cs typeface="Calibri" pitchFamily="34" charset="-120"/>
              </a:rPr>
              <a:t>All fraudulent messages</a:t>
            </a:r>
            <a:endParaRPr lang="en-US" sz="1000" dirty="0"/>
          </a:p>
          <a:p>
            <a:pPr algn="ctr" indent="0" marL="0">
              <a:buNone/>
            </a:pPr>
            <a:r>
              <a:rPr lang="en-US" sz="1000" dirty="0">
                <a:solidFill>
                  <a:srgbClr val="E8EEF8"/>
                </a:solidFill>
                <a:latin typeface="Calibri" pitchFamily="34" charset="0"/>
                <a:ea typeface="Calibri" pitchFamily="34" charset="-122"/>
                <a:cs typeface="Calibri" pitchFamily="34" charset="-120"/>
              </a:rPr>
              <a:t>were correctly identified</a:t>
            </a:r>
            <a:endParaRPr lang="en-US" sz="1000" dirty="0"/>
          </a:p>
        </p:txBody>
      </p:sp>
      <p:sp>
        <p:nvSpPr>
          <p:cNvPr id="15" name="Shape 13"/>
          <p:cNvSpPr/>
          <p:nvPr/>
        </p:nvSpPr>
        <p:spPr>
          <a:xfrm>
            <a:off x="4526280" y="1298448"/>
            <a:ext cx="1920240" cy="2697480"/>
          </a:xfrm>
          <a:prstGeom prst="rect">
            <a:avLst/>
          </a:prstGeom>
          <a:solidFill>
            <a:srgbClr val="FFFFFF">
              <a:alpha val="10000"/>
            </a:srgbClr>
          </a:solidFill>
          <a:ln w="25400">
            <a:solidFill>
              <a:srgbClr val="D4AC0D"/>
            </a:solidFill>
            <a:prstDash val="solid"/>
          </a:ln>
          <a:effectLst>
            <a:outerShdw sx="100000" sy="100000" kx="0" ky="0" algn="bl" rotWithShape="0" blurRad="76200" dist="38100" dir="8100000">
              <a:srgbClr val="000000">
                <a:alpha val="12000"/>
              </a:srgbClr>
            </a:outerShdw>
          </a:effectLst>
        </p:spPr>
      </p:sp>
      <p:sp>
        <p:nvSpPr>
          <p:cNvPr id="16" name="Shape 14"/>
          <p:cNvSpPr/>
          <p:nvPr/>
        </p:nvSpPr>
        <p:spPr>
          <a:xfrm>
            <a:off x="4526280" y="1298448"/>
            <a:ext cx="1920240" cy="274320"/>
          </a:xfrm>
          <a:prstGeom prst="rect">
            <a:avLst/>
          </a:prstGeom>
          <a:solidFill>
            <a:srgbClr val="D4AC0D"/>
          </a:solidFill>
          <a:ln w="12700">
            <a:solidFill>
              <a:srgbClr val="D4AC0D"/>
            </a:solidFill>
            <a:prstDash val="solid"/>
          </a:ln>
        </p:spPr>
      </p:sp>
      <p:sp>
        <p:nvSpPr>
          <p:cNvPr id="17" name="Text 15"/>
          <p:cNvSpPr/>
          <p:nvPr/>
        </p:nvSpPr>
        <p:spPr>
          <a:xfrm>
            <a:off x="4526280" y="1572768"/>
            <a:ext cx="1920240" cy="9601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100%</a:t>
            </a:r>
            <a:endParaRPr lang="en-US" sz="4000" dirty="0"/>
          </a:p>
        </p:txBody>
      </p:sp>
      <p:sp>
        <p:nvSpPr>
          <p:cNvPr id="18" name="Text 16"/>
          <p:cNvSpPr/>
          <p:nvPr/>
        </p:nvSpPr>
        <p:spPr>
          <a:xfrm>
            <a:off x="4526280" y="2505456"/>
            <a:ext cx="1920240" cy="475488"/>
          </a:xfrm>
          <a:prstGeom prst="rect">
            <a:avLst/>
          </a:prstGeom>
          <a:noFill/>
          <a:ln/>
        </p:spPr>
        <p:txBody>
          <a:bodyPr wrap="square" rtlCol="0" anchor="ctr"/>
          <a:lstStyle/>
          <a:p>
            <a:pPr algn="ctr" indent="0" marL="0">
              <a:buNone/>
            </a:pPr>
            <a:r>
              <a:rPr lang="en-US" sz="1300" b="1" dirty="0">
                <a:solidFill>
                  <a:srgbClr val="A9CCE3"/>
                </a:solidFill>
                <a:latin typeface="Calibri" pitchFamily="34" charset="0"/>
                <a:ea typeface="Calibri" pitchFamily="34" charset="-122"/>
                <a:cs typeface="Calibri" pitchFamily="34" charset="-120"/>
              </a:rPr>
              <a:t>SCAM</a:t>
            </a:r>
            <a:endParaRPr lang="en-US" sz="1300" dirty="0"/>
          </a:p>
          <a:p>
            <a:pPr algn="ctr" indent="0" marL="0">
              <a:buNone/>
            </a:pPr>
            <a:r>
              <a:rPr lang="en-US" sz="1300" b="1" dirty="0">
                <a:solidFill>
                  <a:srgbClr val="A9CCE3"/>
                </a:solidFill>
                <a:latin typeface="Calibri" pitchFamily="34" charset="0"/>
                <a:ea typeface="Calibri" pitchFamily="34" charset="-122"/>
                <a:cs typeface="Calibri" pitchFamily="34" charset="-120"/>
              </a:rPr>
              <a:t>Precision</a:t>
            </a:r>
            <a:endParaRPr lang="en-US" sz="1300" dirty="0"/>
          </a:p>
        </p:txBody>
      </p:sp>
      <p:sp>
        <p:nvSpPr>
          <p:cNvPr id="19" name="Text 17"/>
          <p:cNvSpPr/>
          <p:nvPr/>
        </p:nvSpPr>
        <p:spPr>
          <a:xfrm>
            <a:off x="4572000" y="2944368"/>
            <a:ext cx="1828800" cy="822960"/>
          </a:xfrm>
          <a:prstGeom prst="rect">
            <a:avLst/>
          </a:prstGeom>
          <a:noFill/>
          <a:ln/>
        </p:spPr>
        <p:txBody>
          <a:bodyPr wrap="square" rtlCol="0" anchor="ctr"/>
          <a:lstStyle/>
          <a:p>
            <a:pPr algn="ctr" indent="0" marL="0">
              <a:buNone/>
            </a:pPr>
            <a:r>
              <a:rPr lang="en-US" sz="1000" dirty="0">
                <a:solidFill>
                  <a:srgbClr val="E8EEF8"/>
                </a:solidFill>
                <a:latin typeface="Calibri" pitchFamily="34" charset="0"/>
                <a:ea typeface="Calibri" pitchFamily="34" charset="-122"/>
                <a:cs typeface="Calibri" pitchFamily="34" charset="-120"/>
              </a:rPr>
              <a:t>Zero false positives</a:t>
            </a:r>
            <a:endParaRPr lang="en-US" sz="1000" dirty="0"/>
          </a:p>
          <a:p>
            <a:pPr algn="ctr" indent="0" marL="0">
              <a:buNone/>
            </a:pPr>
            <a:r>
              <a:rPr lang="en-US" sz="1000" dirty="0">
                <a:solidFill>
                  <a:srgbClr val="E8EEF8"/>
                </a:solidFill>
                <a:latin typeface="Calibri" pitchFamily="34" charset="0"/>
                <a:ea typeface="Calibri" pitchFamily="34" charset="-122"/>
                <a:cs typeface="Calibri" pitchFamily="34" charset="-120"/>
              </a:rPr>
              <a:t>recorded on test set</a:t>
            </a:r>
            <a:endParaRPr lang="en-US" sz="1000" dirty="0"/>
          </a:p>
        </p:txBody>
      </p:sp>
      <p:sp>
        <p:nvSpPr>
          <p:cNvPr id="20" name="Shape 18"/>
          <p:cNvSpPr/>
          <p:nvPr/>
        </p:nvSpPr>
        <p:spPr>
          <a:xfrm>
            <a:off x="6629400" y="1298448"/>
            <a:ext cx="1920240" cy="2697480"/>
          </a:xfrm>
          <a:prstGeom prst="rect">
            <a:avLst/>
          </a:prstGeom>
          <a:solidFill>
            <a:srgbClr val="FFFFFF">
              <a:alpha val="10000"/>
            </a:srgbClr>
          </a:solidFill>
          <a:ln w="25400">
            <a:solidFill>
              <a:srgbClr val="5B7FC5"/>
            </a:solidFill>
            <a:prstDash val="solid"/>
          </a:ln>
          <a:effectLst>
            <a:outerShdw sx="100000" sy="100000" kx="0" ky="0" algn="bl" rotWithShape="0" blurRad="76200" dist="38100" dir="8100000">
              <a:srgbClr val="000000">
                <a:alpha val="12000"/>
              </a:srgbClr>
            </a:outerShdw>
          </a:effectLst>
        </p:spPr>
      </p:sp>
      <p:sp>
        <p:nvSpPr>
          <p:cNvPr id="21" name="Shape 19"/>
          <p:cNvSpPr/>
          <p:nvPr/>
        </p:nvSpPr>
        <p:spPr>
          <a:xfrm>
            <a:off x="6629400" y="1298448"/>
            <a:ext cx="1920240" cy="274320"/>
          </a:xfrm>
          <a:prstGeom prst="rect">
            <a:avLst/>
          </a:prstGeom>
          <a:solidFill>
            <a:srgbClr val="5B7FC5"/>
          </a:solidFill>
          <a:ln w="12700">
            <a:solidFill>
              <a:srgbClr val="5B7FC5"/>
            </a:solidFill>
            <a:prstDash val="solid"/>
          </a:ln>
        </p:spPr>
      </p:sp>
      <p:sp>
        <p:nvSpPr>
          <p:cNvPr id="22" name="Text 20"/>
          <p:cNvSpPr/>
          <p:nvPr/>
        </p:nvSpPr>
        <p:spPr>
          <a:xfrm>
            <a:off x="6629400" y="1572768"/>
            <a:ext cx="1920240" cy="960120"/>
          </a:xfrm>
          <a:prstGeom prst="rect">
            <a:avLst/>
          </a:prstGeom>
          <a:noFill/>
          <a:ln/>
        </p:spPr>
        <p:txBody>
          <a:bodyPr wrap="square" rtlCol="0" anchor="ctr"/>
          <a:lstStyle/>
          <a:p>
            <a:pPr algn="ctr" indent="0" marL="0">
              <a:buNone/>
            </a:pPr>
            <a:r>
              <a:rPr lang="en-US" sz="4000" b="1" dirty="0">
                <a:solidFill>
                  <a:srgbClr val="FFFFFF"/>
                </a:solidFill>
                <a:latin typeface="Georgia" pitchFamily="34" charset="0"/>
                <a:ea typeface="Georgia" pitchFamily="34" charset="-122"/>
                <a:cs typeface="Georgia" pitchFamily="34" charset="-120"/>
              </a:rPr>
              <a:t>100%</a:t>
            </a:r>
            <a:endParaRPr lang="en-US" sz="4000" dirty="0"/>
          </a:p>
        </p:txBody>
      </p:sp>
      <p:sp>
        <p:nvSpPr>
          <p:cNvPr id="23" name="Text 21"/>
          <p:cNvSpPr/>
          <p:nvPr/>
        </p:nvSpPr>
        <p:spPr>
          <a:xfrm>
            <a:off x="6629400" y="2505456"/>
            <a:ext cx="1920240" cy="475488"/>
          </a:xfrm>
          <a:prstGeom prst="rect">
            <a:avLst/>
          </a:prstGeom>
          <a:noFill/>
          <a:ln/>
        </p:spPr>
        <p:txBody>
          <a:bodyPr wrap="square" rtlCol="0" anchor="ctr"/>
          <a:lstStyle/>
          <a:p>
            <a:pPr algn="ctr" indent="0" marL="0">
              <a:buNone/>
            </a:pPr>
            <a:r>
              <a:rPr lang="en-US" sz="1300" b="1" dirty="0">
                <a:solidFill>
                  <a:srgbClr val="A9CCE3"/>
                </a:solidFill>
                <a:latin typeface="Calibri" pitchFamily="34" charset="0"/>
                <a:ea typeface="Calibri" pitchFamily="34" charset="-122"/>
                <a:cs typeface="Calibri" pitchFamily="34" charset="-120"/>
              </a:rPr>
              <a:t>F1</a:t>
            </a:r>
            <a:endParaRPr lang="en-US" sz="1300" dirty="0"/>
          </a:p>
          <a:p>
            <a:pPr algn="ctr" indent="0" marL="0">
              <a:buNone/>
            </a:pPr>
            <a:r>
              <a:rPr lang="en-US" sz="1300" b="1" dirty="0">
                <a:solidFill>
                  <a:srgbClr val="A9CCE3"/>
                </a:solidFill>
                <a:latin typeface="Calibri" pitchFamily="34" charset="0"/>
                <a:ea typeface="Calibri" pitchFamily="34" charset="-122"/>
                <a:cs typeface="Calibri" pitchFamily="34" charset="-120"/>
              </a:rPr>
              <a:t>Score</a:t>
            </a:r>
            <a:endParaRPr lang="en-US" sz="1300" dirty="0"/>
          </a:p>
        </p:txBody>
      </p:sp>
      <p:sp>
        <p:nvSpPr>
          <p:cNvPr id="24" name="Text 22"/>
          <p:cNvSpPr/>
          <p:nvPr/>
        </p:nvSpPr>
        <p:spPr>
          <a:xfrm>
            <a:off x="6675120" y="2944368"/>
            <a:ext cx="1828800" cy="822960"/>
          </a:xfrm>
          <a:prstGeom prst="rect">
            <a:avLst/>
          </a:prstGeom>
          <a:noFill/>
          <a:ln/>
        </p:spPr>
        <p:txBody>
          <a:bodyPr wrap="square" rtlCol="0" anchor="ctr"/>
          <a:lstStyle/>
          <a:p>
            <a:pPr algn="ctr" indent="0" marL="0">
              <a:buNone/>
            </a:pPr>
            <a:r>
              <a:rPr lang="en-US" sz="1000" dirty="0">
                <a:solidFill>
                  <a:srgbClr val="E8EEF8"/>
                </a:solidFill>
                <a:latin typeface="Calibri" pitchFamily="34" charset="0"/>
                <a:ea typeface="Calibri" pitchFamily="34" charset="-122"/>
                <a:cs typeface="Calibri" pitchFamily="34" charset="-120"/>
              </a:rPr>
              <a:t>All four metrics</a:t>
            </a:r>
            <a:endParaRPr lang="en-US" sz="1000" dirty="0"/>
          </a:p>
          <a:p>
            <a:pPr algn="ctr" indent="0" marL="0">
              <a:buNone/>
            </a:pPr>
            <a:r>
              <a:rPr lang="en-US" sz="1000" dirty="0">
                <a:solidFill>
                  <a:srgbClr val="E8EEF8"/>
                </a:solidFill>
                <a:latin typeface="Calibri" pitchFamily="34" charset="0"/>
                <a:ea typeface="Calibri" pitchFamily="34" charset="-122"/>
                <a:cs typeface="Calibri" pitchFamily="34" charset="-120"/>
              </a:rPr>
              <a:t>perfect at 100%</a:t>
            </a:r>
            <a:endParaRPr lang="en-US" sz="1000" dirty="0"/>
          </a:p>
        </p:txBody>
      </p:sp>
      <p:sp>
        <p:nvSpPr>
          <p:cNvPr id="25" name="Text 23"/>
          <p:cNvSpPr/>
          <p:nvPr/>
        </p:nvSpPr>
        <p:spPr>
          <a:xfrm>
            <a:off x="457200" y="4041648"/>
            <a:ext cx="5486400" cy="274320"/>
          </a:xfrm>
          <a:prstGeom prst="rect">
            <a:avLst/>
          </a:prstGeom>
          <a:noFill/>
          <a:ln/>
        </p:spPr>
        <p:txBody>
          <a:bodyPr wrap="square" rtlCol="0" anchor="ctr"/>
          <a:lstStyle/>
          <a:p>
            <a:pPr indent="0" marL="0">
              <a:buNone/>
            </a:pPr>
            <a:r>
              <a:rPr lang="en-US" sz="1200" b="1" dirty="0">
                <a:solidFill>
                  <a:srgbClr val="A9CCE3"/>
                </a:solidFill>
                <a:latin typeface="Calibri" pitchFamily="34" charset="0"/>
                <a:ea typeface="Calibri" pitchFamily="34" charset="-122"/>
                <a:cs typeface="Calibri" pitchFamily="34" charset="-120"/>
              </a:rPr>
              <a:t>Confusion Matrix — Breakdown of Prediction Outcomes:</a:t>
            </a:r>
            <a:endParaRPr lang="en-US" sz="1200" dirty="0"/>
          </a:p>
        </p:txBody>
      </p:sp>
      <p:sp>
        <p:nvSpPr>
          <p:cNvPr id="26" name="Shape 24"/>
          <p:cNvSpPr/>
          <p:nvPr/>
        </p:nvSpPr>
        <p:spPr>
          <a:xfrm>
            <a:off x="320040" y="4315968"/>
            <a:ext cx="2103120" cy="256032"/>
          </a:xfrm>
          <a:prstGeom prst="rect">
            <a:avLst/>
          </a:prstGeom>
          <a:solidFill>
            <a:srgbClr val="1E2761"/>
          </a:solidFill>
          <a:ln w="6350">
            <a:solidFill>
              <a:srgbClr val="1E2761"/>
            </a:solidFill>
            <a:prstDash val="solid"/>
          </a:ln>
        </p:spPr>
      </p:sp>
      <p:sp>
        <p:nvSpPr>
          <p:cNvPr id="27" name="Text 25"/>
          <p:cNvSpPr/>
          <p:nvPr/>
        </p:nvSpPr>
        <p:spPr>
          <a:xfrm>
            <a:off x="320040" y="4315968"/>
            <a:ext cx="2103120" cy="256032"/>
          </a:xfrm>
          <a:prstGeom prst="rect">
            <a:avLst/>
          </a:prstGeom>
          <a:noFill/>
          <a:ln/>
        </p:spPr>
        <p:txBody>
          <a:bodyPr wrap="square" rtlCol="0" anchor="ctr"/>
          <a:lstStyle/>
          <a:p>
            <a:pPr algn="ctr" indent="0" marL="0">
              <a:buNone/>
            </a:pPr>
            <a:endParaRPr lang="en-US" sz="900" dirty="0"/>
          </a:p>
        </p:txBody>
      </p:sp>
      <p:sp>
        <p:nvSpPr>
          <p:cNvPr id="28" name="Shape 26"/>
          <p:cNvSpPr/>
          <p:nvPr/>
        </p:nvSpPr>
        <p:spPr>
          <a:xfrm>
            <a:off x="2468880" y="4315968"/>
            <a:ext cx="2103120" cy="256032"/>
          </a:xfrm>
          <a:prstGeom prst="rect">
            <a:avLst/>
          </a:prstGeom>
          <a:solidFill>
            <a:srgbClr val="2E4482"/>
          </a:solidFill>
          <a:ln w="6350">
            <a:solidFill>
              <a:srgbClr val="1E2761"/>
            </a:solidFill>
            <a:prstDash val="solid"/>
          </a:ln>
        </p:spPr>
      </p:sp>
      <p:sp>
        <p:nvSpPr>
          <p:cNvPr id="29" name="Text 27"/>
          <p:cNvSpPr/>
          <p:nvPr/>
        </p:nvSpPr>
        <p:spPr>
          <a:xfrm>
            <a:off x="2468880" y="4315968"/>
            <a:ext cx="21031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Predicted: SCAM</a:t>
            </a:r>
            <a:endParaRPr lang="en-US" sz="900" dirty="0"/>
          </a:p>
        </p:txBody>
      </p:sp>
      <p:sp>
        <p:nvSpPr>
          <p:cNvPr id="30" name="Shape 28"/>
          <p:cNvSpPr/>
          <p:nvPr/>
        </p:nvSpPr>
        <p:spPr>
          <a:xfrm>
            <a:off x="4617720" y="4315968"/>
            <a:ext cx="2103120" cy="256032"/>
          </a:xfrm>
          <a:prstGeom prst="rect">
            <a:avLst/>
          </a:prstGeom>
          <a:solidFill>
            <a:srgbClr val="2E4482"/>
          </a:solidFill>
          <a:ln w="6350">
            <a:solidFill>
              <a:srgbClr val="1E2761"/>
            </a:solidFill>
            <a:prstDash val="solid"/>
          </a:ln>
        </p:spPr>
      </p:sp>
      <p:sp>
        <p:nvSpPr>
          <p:cNvPr id="31" name="Text 29"/>
          <p:cNvSpPr/>
          <p:nvPr/>
        </p:nvSpPr>
        <p:spPr>
          <a:xfrm>
            <a:off x="4617720" y="4315968"/>
            <a:ext cx="21031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Predicted: LEGITIMATE</a:t>
            </a:r>
            <a:endParaRPr lang="en-US" sz="900" dirty="0"/>
          </a:p>
        </p:txBody>
      </p:sp>
      <p:sp>
        <p:nvSpPr>
          <p:cNvPr id="32" name="Shape 30"/>
          <p:cNvSpPr/>
          <p:nvPr/>
        </p:nvSpPr>
        <p:spPr>
          <a:xfrm>
            <a:off x="320040" y="4590288"/>
            <a:ext cx="2103120" cy="256032"/>
          </a:xfrm>
          <a:prstGeom prst="rect">
            <a:avLst/>
          </a:prstGeom>
          <a:solidFill>
            <a:srgbClr val="2E4482"/>
          </a:solidFill>
          <a:ln w="6350">
            <a:solidFill>
              <a:srgbClr val="1E2761"/>
            </a:solidFill>
            <a:prstDash val="solid"/>
          </a:ln>
        </p:spPr>
      </p:sp>
      <p:sp>
        <p:nvSpPr>
          <p:cNvPr id="33" name="Text 31"/>
          <p:cNvSpPr/>
          <p:nvPr/>
        </p:nvSpPr>
        <p:spPr>
          <a:xfrm>
            <a:off x="320040" y="4590288"/>
            <a:ext cx="21031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Actual: SCAM</a:t>
            </a:r>
            <a:endParaRPr lang="en-US" sz="900" dirty="0"/>
          </a:p>
        </p:txBody>
      </p:sp>
      <p:sp>
        <p:nvSpPr>
          <p:cNvPr id="34" name="Shape 32"/>
          <p:cNvSpPr/>
          <p:nvPr/>
        </p:nvSpPr>
        <p:spPr>
          <a:xfrm>
            <a:off x="2468880" y="4590288"/>
            <a:ext cx="2103120" cy="256032"/>
          </a:xfrm>
          <a:prstGeom prst="rect">
            <a:avLst/>
          </a:prstGeom>
          <a:solidFill>
            <a:srgbClr val="1E8449"/>
          </a:solidFill>
          <a:ln w="6350">
            <a:solidFill>
              <a:srgbClr val="1E2761"/>
            </a:solidFill>
            <a:prstDash val="solid"/>
          </a:ln>
        </p:spPr>
      </p:sp>
      <p:sp>
        <p:nvSpPr>
          <p:cNvPr id="35" name="Text 33"/>
          <p:cNvSpPr/>
          <p:nvPr/>
        </p:nvSpPr>
        <p:spPr>
          <a:xfrm>
            <a:off x="2468880" y="4590288"/>
            <a:ext cx="2103120" cy="25603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10 ✅ Correct</a:t>
            </a:r>
            <a:endParaRPr lang="en-US" sz="1000" dirty="0"/>
          </a:p>
        </p:txBody>
      </p:sp>
      <p:sp>
        <p:nvSpPr>
          <p:cNvPr id="36" name="Shape 34"/>
          <p:cNvSpPr/>
          <p:nvPr/>
        </p:nvSpPr>
        <p:spPr>
          <a:xfrm>
            <a:off x="4617720" y="4590288"/>
            <a:ext cx="2103120" cy="256032"/>
          </a:xfrm>
          <a:prstGeom prst="rect">
            <a:avLst/>
          </a:prstGeom>
          <a:solidFill>
            <a:srgbClr val="1E2761"/>
          </a:solidFill>
          <a:ln w="6350">
            <a:solidFill>
              <a:srgbClr val="1E2761"/>
            </a:solidFill>
            <a:prstDash val="solid"/>
          </a:ln>
        </p:spPr>
      </p:sp>
      <p:sp>
        <p:nvSpPr>
          <p:cNvPr id="37" name="Text 35"/>
          <p:cNvSpPr/>
          <p:nvPr/>
        </p:nvSpPr>
        <p:spPr>
          <a:xfrm>
            <a:off x="4617720" y="4590288"/>
            <a:ext cx="2103120" cy="25603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  — None missed</a:t>
            </a:r>
            <a:endParaRPr lang="en-US" sz="1000" dirty="0"/>
          </a:p>
        </p:txBody>
      </p:sp>
      <p:sp>
        <p:nvSpPr>
          <p:cNvPr id="38" name="Shape 36"/>
          <p:cNvSpPr/>
          <p:nvPr/>
        </p:nvSpPr>
        <p:spPr>
          <a:xfrm>
            <a:off x="320040" y="4864608"/>
            <a:ext cx="2103120" cy="256032"/>
          </a:xfrm>
          <a:prstGeom prst="rect">
            <a:avLst/>
          </a:prstGeom>
          <a:solidFill>
            <a:srgbClr val="2E4482"/>
          </a:solidFill>
          <a:ln w="6350">
            <a:solidFill>
              <a:srgbClr val="1E2761"/>
            </a:solidFill>
            <a:prstDash val="solid"/>
          </a:ln>
        </p:spPr>
      </p:sp>
      <p:sp>
        <p:nvSpPr>
          <p:cNvPr id="39" name="Text 37"/>
          <p:cNvSpPr/>
          <p:nvPr/>
        </p:nvSpPr>
        <p:spPr>
          <a:xfrm>
            <a:off x="320040" y="4864608"/>
            <a:ext cx="2103120"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Actual: LEGITIMATE</a:t>
            </a:r>
            <a:endParaRPr lang="en-US" sz="900" dirty="0"/>
          </a:p>
        </p:txBody>
      </p:sp>
      <p:sp>
        <p:nvSpPr>
          <p:cNvPr id="40" name="Shape 38"/>
          <p:cNvSpPr/>
          <p:nvPr/>
        </p:nvSpPr>
        <p:spPr>
          <a:xfrm>
            <a:off x="2468880" y="4864608"/>
            <a:ext cx="2103120" cy="256032"/>
          </a:xfrm>
          <a:prstGeom prst="rect">
            <a:avLst/>
          </a:prstGeom>
          <a:solidFill>
            <a:srgbClr val="6D4C41"/>
          </a:solidFill>
          <a:ln w="6350">
            <a:solidFill>
              <a:srgbClr val="1E2761"/>
            </a:solidFill>
            <a:prstDash val="solid"/>
          </a:ln>
        </p:spPr>
      </p:sp>
      <p:sp>
        <p:nvSpPr>
          <p:cNvPr id="41" name="Text 39"/>
          <p:cNvSpPr/>
          <p:nvPr/>
        </p:nvSpPr>
        <p:spPr>
          <a:xfrm>
            <a:off x="2468880" y="4864608"/>
            <a:ext cx="2103120" cy="25603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0  — None flagged</a:t>
            </a:r>
            <a:endParaRPr lang="en-US" sz="1000" dirty="0"/>
          </a:p>
        </p:txBody>
      </p:sp>
      <p:sp>
        <p:nvSpPr>
          <p:cNvPr id="42" name="Shape 40"/>
          <p:cNvSpPr/>
          <p:nvPr/>
        </p:nvSpPr>
        <p:spPr>
          <a:xfrm>
            <a:off x="4617720" y="4864608"/>
            <a:ext cx="2103120" cy="256032"/>
          </a:xfrm>
          <a:prstGeom prst="rect">
            <a:avLst/>
          </a:prstGeom>
          <a:solidFill>
            <a:srgbClr val="1E8449"/>
          </a:solidFill>
          <a:ln w="6350">
            <a:solidFill>
              <a:srgbClr val="1E2761"/>
            </a:solidFill>
            <a:prstDash val="solid"/>
          </a:ln>
        </p:spPr>
      </p:sp>
      <p:sp>
        <p:nvSpPr>
          <p:cNvPr id="43" name="Text 41"/>
          <p:cNvSpPr/>
          <p:nvPr/>
        </p:nvSpPr>
        <p:spPr>
          <a:xfrm>
            <a:off x="4617720" y="4864608"/>
            <a:ext cx="2103120" cy="256032"/>
          </a:xfrm>
          <a:prstGeom prst="rect">
            <a:avLst/>
          </a:prstGeom>
          <a:noFill/>
          <a:ln/>
        </p:spPr>
        <p:txBody>
          <a:bodyPr wrap="square" rtlCol="0" anchor="ctr"/>
          <a:lstStyle/>
          <a:p>
            <a:pPr algn="ctr" indent="0" marL="0">
              <a:buNone/>
            </a:pPr>
            <a:r>
              <a:rPr lang="en-US" sz="1000" dirty="0">
                <a:solidFill>
                  <a:srgbClr val="FFFFFF"/>
                </a:solidFill>
                <a:latin typeface="Calibri" pitchFamily="34" charset="0"/>
                <a:ea typeface="Calibri" pitchFamily="34" charset="-122"/>
                <a:cs typeface="Calibri" pitchFamily="34" charset="-120"/>
              </a:rPr>
              <a:t>11 ✅ Correct</a:t>
            </a:r>
            <a:endParaRPr lang="en-US" sz="1000" dirty="0"/>
          </a:p>
        </p:txBody>
      </p:sp>
      <p:sp>
        <p:nvSpPr>
          <p:cNvPr id="44" name="Shape 42"/>
          <p:cNvSpPr/>
          <p:nvPr/>
        </p:nvSpPr>
        <p:spPr>
          <a:xfrm>
            <a:off x="0" y="5029200"/>
            <a:ext cx="9144000" cy="114300"/>
          </a:xfrm>
          <a:prstGeom prst="rect">
            <a:avLst/>
          </a:prstGeom>
          <a:solidFill>
            <a:srgbClr val="C0392B"/>
          </a:solidFill>
          <a:ln w="12700">
            <a:solidFill>
              <a:srgbClr val="C0392B"/>
            </a:solidFill>
            <a:prstDash val="solid"/>
          </a:ln>
        </p:spPr>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182880"/>
            <a:ext cx="8229600" cy="566928"/>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What the Model Actually Learned</a:t>
            </a:r>
            <a:endParaRPr lang="en-US" sz="3000" dirty="0"/>
          </a:p>
        </p:txBody>
      </p:sp>
      <p:sp>
        <p:nvSpPr>
          <p:cNvPr id="4" name="Text 2"/>
          <p:cNvSpPr/>
          <p:nvPr/>
        </p:nvSpPr>
        <p:spPr>
          <a:xfrm>
            <a:off x="457200" y="713232"/>
            <a:ext cx="8229600" cy="310896"/>
          </a:xfrm>
          <a:prstGeom prst="rect">
            <a:avLst/>
          </a:prstGeom>
          <a:noFill/>
          <a:ln/>
        </p:spPr>
        <p:txBody>
          <a:bodyPr wrap="square" rtlCol="0" anchor="ctr"/>
          <a:lstStyle/>
          <a:p>
            <a:pPr indent="0" marL="0">
              <a:buNone/>
            </a:pPr>
            <a:r>
              <a:rPr lang="en-US" sz="1300" i="1" dirty="0">
                <a:solidFill>
                  <a:srgbClr val="6C757D"/>
                </a:solidFill>
                <a:latin typeface="Calibri" pitchFamily="34" charset="0"/>
                <a:ea typeface="Calibri" pitchFamily="34" charset="-122"/>
                <a:cs typeface="Calibri" pitchFamily="34" charset="-120"/>
              </a:rPr>
              <a:t>These are the words the model discovered that best separate SCAM from LEGITIMATE messages</a:t>
            </a:r>
            <a:endParaRPr lang="en-US" sz="1300" dirty="0"/>
          </a:p>
        </p:txBody>
      </p:sp>
      <p:sp>
        <p:nvSpPr>
          <p:cNvPr id="5" name="Shape 3"/>
          <p:cNvSpPr/>
          <p:nvPr/>
        </p:nvSpPr>
        <p:spPr>
          <a:xfrm>
            <a:off x="274320" y="1097280"/>
            <a:ext cx="4572000" cy="32004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6" name="Text 4"/>
          <p:cNvSpPr/>
          <p:nvPr/>
        </p:nvSpPr>
        <p:spPr>
          <a:xfrm>
            <a:off x="457200" y="1170432"/>
            <a:ext cx="4206240" cy="347472"/>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  Top Fraudulent Signal Words</a:t>
            </a:r>
            <a:endParaRPr lang="en-US" sz="1300" dirty="0"/>
          </a:p>
        </p:txBody>
      </p:sp>
      <p:sp>
        <p:nvSpPr>
          <p:cNvPr id="7" name="Text 5"/>
          <p:cNvSpPr/>
          <p:nvPr/>
        </p:nvSpPr>
        <p:spPr>
          <a:xfrm>
            <a:off x="438912" y="1572768"/>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claim</a:t>
            </a:r>
            <a:endParaRPr lang="en-US" sz="1100" dirty="0"/>
          </a:p>
        </p:txBody>
      </p:sp>
      <p:sp>
        <p:nvSpPr>
          <p:cNvPr id="8" name="Shape 6"/>
          <p:cNvSpPr/>
          <p:nvPr/>
        </p:nvSpPr>
        <p:spPr>
          <a:xfrm>
            <a:off x="1389888" y="1609344"/>
            <a:ext cx="2798064" cy="201168"/>
          </a:xfrm>
          <a:prstGeom prst="rect">
            <a:avLst/>
          </a:prstGeom>
          <a:solidFill>
            <a:srgbClr val="E74C3C">
              <a:alpha val="80000"/>
            </a:srgbClr>
          </a:solidFill>
          <a:ln w="12700">
            <a:solidFill>
              <a:srgbClr val="E74C3C"/>
            </a:solidFill>
            <a:prstDash val="solid"/>
          </a:ln>
        </p:spPr>
      </p:sp>
      <p:sp>
        <p:nvSpPr>
          <p:cNvPr id="9" name="Text 7"/>
          <p:cNvSpPr/>
          <p:nvPr/>
        </p:nvSpPr>
        <p:spPr>
          <a:xfrm>
            <a:off x="4233672" y="1572768"/>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1.08</a:t>
            </a:r>
            <a:endParaRPr lang="en-US" sz="1000" dirty="0"/>
          </a:p>
        </p:txBody>
      </p:sp>
      <p:sp>
        <p:nvSpPr>
          <p:cNvPr id="10" name="Text 8"/>
          <p:cNvSpPr/>
          <p:nvPr/>
        </p:nvSpPr>
        <p:spPr>
          <a:xfrm>
            <a:off x="438912" y="1901952"/>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pay</a:t>
            </a:r>
            <a:endParaRPr lang="en-US" sz="1100" dirty="0"/>
          </a:p>
        </p:txBody>
      </p:sp>
      <p:sp>
        <p:nvSpPr>
          <p:cNvPr id="11" name="Shape 9"/>
          <p:cNvSpPr/>
          <p:nvPr/>
        </p:nvSpPr>
        <p:spPr>
          <a:xfrm>
            <a:off x="1389888" y="1938528"/>
            <a:ext cx="2461260" cy="201168"/>
          </a:xfrm>
          <a:prstGeom prst="rect">
            <a:avLst/>
          </a:prstGeom>
          <a:solidFill>
            <a:srgbClr val="E74C3C">
              <a:alpha val="80000"/>
            </a:srgbClr>
          </a:solidFill>
          <a:ln w="12700">
            <a:solidFill>
              <a:srgbClr val="E74C3C"/>
            </a:solidFill>
            <a:prstDash val="solid"/>
          </a:ln>
        </p:spPr>
      </p:sp>
      <p:sp>
        <p:nvSpPr>
          <p:cNvPr id="12" name="Text 10"/>
          <p:cNvSpPr/>
          <p:nvPr/>
        </p:nvSpPr>
        <p:spPr>
          <a:xfrm>
            <a:off x="3896868" y="1901952"/>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0.95</a:t>
            </a:r>
            <a:endParaRPr lang="en-US" sz="1000" dirty="0"/>
          </a:p>
        </p:txBody>
      </p:sp>
      <p:sp>
        <p:nvSpPr>
          <p:cNvPr id="13" name="Text 11"/>
          <p:cNvSpPr/>
          <p:nvPr/>
        </p:nvSpPr>
        <p:spPr>
          <a:xfrm>
            <a:off x="438912" y="2231136"/>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.net links</a:t>
            </a:r>
            <a:endParaRPr lang="en-US" sz="1100" dirty="0"/>
          </a:p>
        </p:txBody>
      </p:sp>
      <p:sp>
        <p:nvSpPr>
          <p:cNvPr id="14" name="Shape 12"/>
          <p:cNvSpPr/>
          <p:nvPr/>
        </p:nvSpPr>
        <p:spPr>
          <a:xfrm>
            <a:off x="1389888" y="2267712"/>
            <a:ext cx="2279904" cy="201168"/>
          </a:xfrm>
          <a:prstGeom prst="rect">
            <a:avLst/>
          </a:prstGeom>
          <a:solidFill>
            <a:srgbClr val="E74C3C">
              <a:alpha val="80000"/>
            </a:srgbClr>
          </a:solidFill>
          <a:ln w="12700">
            <a:solidFill>
              <a:srgbClr val="E74C3C"/>
            </a:solidFill>
            <a:prstDash val="solid"/>
          </a:ln>
        </p:spPr>
      </p:sp>
      <p:sp>
        <p:nvSpPr>
          <p:cNvPr id="15" name="Text 13"/>
          <p:cNvSpPr/>
          <p:nvPr/>
        </p:nvSpPr>
        <p:spPr>
          <a:xfrm>
            <a:off x="3715512" y="2231136"/>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0.88</a:t>
            </a:r>
            <a:endParaRPr lang="en-US" sz="1000" dirty="0"/>
          </a:p>
        </p:txBody>
      </p:sp>
      <p:sp>
        <p:nvSpPr>
          <p:cNvPr id="16" name="Text 14"/>
          <p:cNvSpPr/>
          <p:nvPr/>
        </p:nvSpPr>
        <p:spPr>
          <a:xfrm>
            <a:off x="438912" y="2560320"/>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fraudulent .uk</a:t>
            </a:r>
            <a:endParaRPr lang="en-US" sz="1100" dirty="0"/>
          </a:p>
        </p:txBody>
      </p:sp>
      <p:sp>
        <p:nvSpPr>
          <p:cNvPr id="17" name="Shape 15"/>
          <p:cNvSpPr/>
          <p:nvPr/>
        </p:nvSpPr>
        <p:spPr>
          <a:xfrm>
            <a:off x="1389888" y="2596896"/>
            <a:ext cx="2228088" cy="201168"/>
          </a:xfrm>
          <a:prstGeom prst="rect">
            <a:avLst/>
          </a:prstGeom>
          <a:solidFill>
            <a:srgbClr val="E74C3C">
              <a:alpha val="80000"/>
            </a:srgbClr>
          </a:solidFill>
          <a:ln w="12700">
            <a:solidFill>
              <a:srgbClr val="E74C3C"/>
            </a:solidFill>
            <a:prstDash val="solid"/>
          </a:ln>
        </p:spPr>
      </p:sp>
      <p:sp>
        <p:nvSpPr>
          <p:cNvPr id="18" name="Text 16"/>
          <p:cNvSpPr/>
          <p:nvPr/>
        </p:nvSpPr>
        <p:spPr>
          <a:xfrm>
            <a:off x="3663696" y="2560320"/>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0.86</a:t>
            </a:r>
            <a:endParaRPr lang="en-US" sz="1000" dirty="0"/>
          </a:p>
        </p:txBody>
      </p:sp>
      <p:sp>
        <p:nvSpPr>
          <p:cNvPr id="19" name="Text 17"/>
          <p:cNvSpPr/>
          <p:nvPr/>
        </p:nvSpPr>
        <p:spPr>
          <a:xfrm>
            <a:off x="438912" y="2889504"/>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HMRC</a:t>
            </a:r>
            <a:endParaRPr lang="en-US" sz="1100" dirty="0"/>
          </a:p>
        </p:txBody>
      </p:sp>
      <p:sp>
        <p:nvSpPr>
          <p:cNvPr id="20" name="Shape 18"/>
          <p:cNvSpPr/>
          <p:nvPr/>
        </p:nvSpPr>
        <p:spPr>
          <a:xfrm>
            <a:off x="1389888" y="2926080"/>
            <a:ext cx="2150364" cy="201168"/>
          </a:xfrm>
          <a:prstGeom prst="rect">
            <a:avLst/>
          </a:prstGeom>
          <a:solidFill>
            <a:srgbClr val="E74C3C">
              <a:alpha val="80000"/>
            </a:srgbClr>
          </a:solidFill>
          <a:ln w="12700">
            <a:solidFill>
              <a:srgbClr val="E74C3C"/>
            </a:solidFill>
            <a:prstDash val="solid"/>
          </a:ln>
        </p:spPr>
      </p:sp>
      <p:sp>
        <p:nvSpPr>
          <p:cNvPr id="21" name="Text 19"/>
          <p:cNvSpPr/>
          <p:nvPr/>
        </p:nvSpPr>
        <p:spPr>
          <a:xfrm>
            <a:off x="3585972" y="2889504"/>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0.83</a:t>
            </a:r>
            <a:endParaRPr lang="en-US" sz="1000" dirty="0"/>
          </a:p>
        </p:txBody>
      </p:sp>
      <p:sp>
        <p:nvSpPr>
          <p:cNvPr id="22" name="Text 20"/>
          <p:cNvSpPr/>
          <p:nvPr/>
        </p:nvSpPr>
        <p:spPr>
          <a:xfrm>
            <a:off x="438912" y="3218688"/>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DVLA</a:t>
            </a:r>
            <a:endParaRPr lang="en-US" sz="1100" dirty="0"/>
          </a:p>
        </p:txBody>
      </p:sp>
      <p:sp>
        <p:nvSpPr>
          <p:cNvPr id="23" name="Shape 21"/>
          <p:cNvSpPr/>
          <p:nvPr/>
        </p:nvSpPr>
        <p:spPr>
          <a:xfrm>
            <a:off x="1389888" y="3255264"/>
            <a:ext cx="1917192" cy="201168"/>
          </a:xfrm>
          <a:prstGeom prst="rect">
            <a:avLst/>
          </a:prstGeom>
          <a:solidFill>
            <a:srgbClr val="E74C3C">
              <a:alpha val="80000"/>
            </a:srgbClr>
          </a:solidFill>
          <a:ln w="12700">
            <a:solidFill>
              <a:srgbClr val="E74C3C"/>
            </a:solidFill>
            <a:prstDash val="solid"/>
          </a:ln>
        </p:spPr>
      </p:sp>
      <p:sp>
        <p:nvSpPr>
          <p:cNvPr id="24" name="Text 22"/>
          <p:cNvSpPr/>
          <p:nvPr/>
        </p:nvSpPr>
        <p:spPr>
          <a:xfrm>
            <a:off x="3352800" y="3218688"/>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0.74</a:t>
            </a:r>
            <a:endParaRPr lang="en-US" sz="1000" dirty="0"/>
          </a:p>
        </p:txBody>
      </p:sp>
      <p:sp>
        <p:nvSpPr>
          <p:cNvPr id="25" name="Text 23"/>
          <p:cNvSpPr/>
          <p:nvPr/>
        </p:nvSpPr>
        <p:spPr>
          <a:xfrm>
            <a:off x="438912" y="3547872"/>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tax</a:t>
            </a:r>
            <a:endParaRPr lang="en-US" sz="1100" dirty="0"/>
          </a:p>
        </p:txBody>
      </p:sp>
      <p:sp>
        <p:nvSpPr>
          <p:cNvPr id="26" name="Shape 24"/>
          <p:cNvSpPr/>
          <p:nvPr/>
        </p:nvSpPr>
        <p:spPr>
          <a:xfrm>
            <a:off x="1389888" y="3584448"/>
            <a:ext cx="1839468" cy="201168"/>
          </a:xfrm>
          <a:prstGeom prst="rect">
            <a:avLst/>
          </a:prstGeom>
          <a:solidFill>
            <a:srgbClr val="E74C3C">
              <a:alpha val="80000"/>
            </a:srgbClr>
          </a:solidFill>
          <a:ln w="12700">
            <a:solidFill>
              <a:srgbClr val="E74C3C"/>
            </a:solidFill>
            <a:prstDash val="solid"/>
          </a:ln>
        </p:spPr>
      </p:sp>
      <p:sp>
        <p:nvSpPr>
          <p:cNvPr id="27" name="Text 25"/>
          <p:cNvSpPr/>
          <p:nvPr/>
        </p:nvSpPr>
        <p:spPr>
          <a:xfrm>
            <a:off x="3275076" y="3547872"/>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0.71</a:t>
            </a:r>
            <a:endParaRPr lang="en-US" sz="1000" dirty="0"/>
          </a:p>
        </p:txBody>
      </p:sp>
      <p:sp>
        <p:nvSpPr>
          <p:cNvPr id="28" name="Text 26"/>
          <p:cNvSpPr/>
          <p:nvPr/>
        </p:nvSpPr>
        <p:spPr>
          <a:xfrm>
            <a:off x="438912" y="3877056"/>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verify</a:t>
            </a:r>
            <a:endParaRPr lang="en-US" sz="1100" dirty="0"/>
          </a:p>
        </p:txBody>
      </p:sp>
      <p:sp>
        <p:nvSpPr>
          <p:cNvPr id="29" name="Shape 27"/>
          <p:cNvSpPr/>
          <p:nvPr/>
        </p:nvSpPr>
        <p:spPr>
          <a:xfrm>
            <a:off x="1389888" y="3913632"/>
            <a:ext cx="1761744" cy="201168"/>
          </a:xfrm>
          <a:prstGeom prst="rect">
            <a:avLst/>
          </a:prstGeom>
          <a:solidFill>
            <a:srgbClr val="E74C3C">
              <a:alpha val="80000"/>
            </a:srgbClr>
          </a:solidFill>
          <a:ln w="12700">
            <a:solidFill>
              <a:srgbClr val="E74C3C"/>
            </a:solidFill>
            <a:prstDash val="solid"/>
          </a:ln>
        </p:spPr>
      </p:sp>
      <p:sp>
        <p:nvSpPr>
          <p:cNvPr id="30" name="Text 28"/>
          <p:cNvSpPr/>
          <p:nvPr/>
        </p:nvSpPr>
        <p:spPr>
          <a:xfrm>
            <a:off x="3197352" y="3877056"/>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0.68</a:t>
            </a:r>
            <a:endParaRPr lang="en-US" sz="1000" dirty="0"/>
          </a:p>
        </p:txBody>
      </p:sp>
      <p:sp>
        <p:nvSpPr>
          <p:cNvPr id="31" name="Shape 29"/>
          <p:cNvSpPr/>
          <p:nvPr/>
        </p:nvSpPr>
        <p:spPr>
          <a:xfrm>
            <a:off x="5212080" y="1097280"/>
            <a:ext cx="3657600" cy="320040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32" name="Text 30"/>
          <p:cNvSpPr/>
          <p:nvPr/>
        </p:nvSpPr>
        <p:spPr>
          <a:xfrm>
            <a:off x="5376672" y="1170432"/>
            <a:ext cx="3383280" cy="347472"/>
          </a:xfrm>
          <a:prstGeom prst="rect">
            <a:avLst/>
          </a:prstGeom>
          <a:noFill/>
          <a:ln/>
        </p:spPr>
        <p:txBody>
          <a:bodyPr wrap="square" rtlCol="0" anchor="ctr"/>
          <a:lstStyle/>
          <a:p>
            <a:pPr indent="0" marL="0">
              <a:buNone/>
            </a:pPr>
            <a:r>
              <a:rPr lang="en-US" sz="1300" b="1" dirty="0">
                <a:solidFill>
                  <a:srgbClr val="1E8449"/>
                </a:solidFill>
                <a:latin typeface="Calibri" pitchFamily="34" charset="0"/>
                <a:ea typeface="Calibri" pitchFamily="34" charset="-122"/>
                <a:cs typeface="Calibri" pitchFamily="34" charset="-120"/>
              </a:rPr>
              <a:t>✅  Top Legitimate Signal Words</a:t>
            </a:r>
            <a:endParaRPr lang="en-US" sz="1300" dirty="0"/>
          </a:p>
        </p:txBody>
      </p:sp>
      <p:sp>
        <p:nvSpPr>
          <p:cNvPr id="33" name="Text 31"/>
          <p:cNvSpPr/>
          <p:nvPr/>
        </p:nvSpPr>
        <p:spPr>
          <a:xfrm>
            <a:off x="5376672" y="1572768"/>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app</a:t>
            </a:r>
            <a:endParaRPr lang="en-US" sz="1100" dirty="0"/>
          </a:p>
        </p:txBody>
      </p:sp>
      <p:sp>
        <p:nvSpPr>
          <p:cNvPr id="34" name="Shape 32"/>
          <p:cNvSpPr/>
          <p:nvPr/>
        </p:nvSpPr>
        <p:spPr>
          <a:xfrm>
            <a:off x="6327648" y="1609344"/>
            <a:ext cx="2199548" cy="201168"/>
          </a:xfrm>
          <a:prstGeom prst="rect">
            <a:avLst/>
          </a:prstGeom>
          <a:solidFill>
            <a:srgbClr val="27AE60">
              <a:alpha val="80000"/>
            </a:srgbClr>
          </a:solidFill>
          <a:ln w="12700">
            <a:solidFill>
              <a:srgbClr val="27AE60"/>
            </a:solidFill>
            <a:prstDash val="solid"/>
          </a:ln>
        </p:spPr>
      </p:sp>
      <p:sp>
        <p:nvSpPr>
          <p:cNvPr id="35" name="Text 33"/>
          <p:cNvSpPr/>
          <p:nvPr/>
        </p:nvSpPr>
        <p:spPr>
          <a:xfrm>
            <a:off x="8572916" y="1572768"/>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0.98</a:t>
            </a:r>
            <a:endParaRPr lang="en-US" sz="1000" dirty="0"/>
          </a:p>
        </p:txBody>
      </p:sp>
      <p:sp>
        <p:nvSpPr>
          <p:cNvPr id="36" name="Text 34"/>
          <p:cNvSpPr/>
          <p:nvPr/>
        </p:nvSpPr>
        <p:spPr>
          <a:xfrm>
            <a:off x="5376672" y="1901952"/>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reminder</a:t>
            </a:r>
            <a:endParaRPr lang="en-US" sz="1100" dirty="0"/>
          </a:p>
        </p:txBody>
      </p:sp>
      <p:sp>
        <p:nvSpPr>
          <p:cNvPr id="37" name="Shape 35"/>
          <p:cNvSpPr/>
          <p:nvPr/>
        </p:nvSpPr>
        <p:spPr>
          <a:xfrm>
            <a:off x="6327648" y="1938528"/>
            <a:ext cx="2064881" cy="201168"/>
          </a:xfrm>
          <a:prstGeom prst="rect">
            <a:avLst/>
          </a:prstGeom>
          <a:solidFill>
            <a:srgbClr val="27AE60">
              <a:alpha val="80000"/>
            </a:srgbClr>
          </a:solidFill>
          <a:ln w="12700">
            <a:solidFill>
              <a:srgbClr val="27AE60"/>
            </a:solidFill>
            <a:prstDash val="solid"/>
          </a:ln>
        </p:spPr>
      </p:sp>
      <p:sp>
        <p:nvSpPr>
          <p:cNvPr id="38" name="Text 36"/>
          <p:cNvSpPr/>
          <p:nvPr/>
        </p:nvSpPr>
        <p:spPr>
          <a:xfrm>
            <a:off x="8438249" y="1901952"/>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0.92</a:t>
            </a:r>
            <a:endParaRPr lang="en-US" sz="1000" dirty="0"/>
          </a:p>
        </p:txBody>
      </p:sp>
      <p:sp>
        <p:nvSpPr>
          <p:cNvPr id="39" name="Text 37"/>
          <p:cNvSpPr/>
          <p:nvPr/>
        </p:nvSpPr>
        <p:spPr>
          <a:xfrm>
            <a:off x="5376672" y="2231136"/>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order</a:t>
            </a:r>
            <a:endParaRPr lang="en-US" sz="1100" dirty="0"/>
          </a:p>
        </p:txBody>
      </p:sp>
      <p:sp>
        <p:nvSpPr>
          <p:cNvPr id="40" name="Shape 38"/>
          <p:cNvSpPr/>
          <p:nvPr/>
        </p:nvSpPr>
        <p:spPr>
          <a:xfrm>
            <a:off x="6327648" y="2267712"/>
            <a:ext cx="1862882" cy="201168"/>
          </a:xfrm>
          <a:prstGeom prst="rect">
            <a:avLst/>
          </a:prstGeom>
          <a:solidFill>
            <a:srgbClr val="27AE60">
              <a:alpha val="80000"/>
            </a:srgbClr>
          </a:solidFill>
          <a:ln w="12700">
            <a:solidFill>
              <a:srgbClr val="27AE60"/>
            </a:solidFill>
            <a:prstDash val="solid"/>
          </a:ln>
        </p:spPr>
      </p:sp>
      <p:sp>
        <p:nvSpPr>
          <p:cNvPr id="41" name="Text 39"/>
          <p:cNvSpPr/>
          <p:nvPr/>
        </p:nvSpPr>
        <p:spPr>
          <a:xfrm>
            <a:off x="8236250" y="2231136"/>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0.83</a:t>
            </a:r>
            <a:endParaRPr lang="en-US" sz="1000" dirty="0"/>
          </a:p>
        </p:txBody>
      </p:sp>
      <p:sp>
        <p:nvSpPr>
          <p:cNvPr id="42" name="Text 40"/>
          <p:cNvSpPr/>
          <p:nvPr/>
        </p:nvSpPr>
        <p:spPr>
          <a:xfrm>
            <a:off x="5376672" y="2560320"/>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for</a:t>
            </a:r>
            <a:endParaRPr lang="en-US" sz="1100" dirty="0"/>
          </a:p>
        </p:txBody>
      </p:sp>
      <p:sp>
        <p:nvSpPr>
          <p:cNvPr id="43" name="Shape 41"/>
          <p:cNvSpPr/>
          <p:nvPr/>
        </p:nvSpPr>
        <p:spPr>
          <a:xfrm>
            <a:off x="6327648" y="2596896"/>
            <a:ext cx="1907771" cy="201168"/>
          </a:xfrm>
          <a:prstGeom prst="rect">
            <a:avLst/>
          </a:prstGeom>
          <a:solidFill>
            <a:srgbClr val="27AE60">
              <a:alpha val="80000"/>
            </a:srgbClr>
          </a:solidFill>
          <a:ln w="12700">
            <a:solidFill>
              <a:srgbClr val="27AE60"/>
            </a:solidFill>
            <a:prstDash val="solid"/>
          </a:ln>
        </p:spPr>
      </p:sp>
      <p:sp>
        <p:nvSpPr>
          <p:cNvPr id="44" name="Text 42"/>
          <p:cNvSpPr/>
          <p:nvPr/>
        </p:nvSpPr>
        <p:spPr>
          <a:xfrm>
            <a:off x="8281139" y="2560320"/>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0.85</a:t>
            </a:r>
            <a:endParaRPr lang="en-US" sz="1000" dirty="0"/>
          </a:p>
        </p:txBody>
      </p:sp>
      <p:sp>
        <p:nvSpPr>
          <p:cNvPr id="45" name="Text 43"/>
          <p:cNvSpPr/>
          <p:nvPr/>
        </p:nvSpPr>
        <p:spPr>
          <a:xfrm>
            <a:off x="5376672" y="2889504"/>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in the</a:t>
            </a:r>
            <a:endParaRPr lang="en-US" sz="1100" dirty="0"/>
          </a:p>
        </p:txBody>
      </p:sp>
      <p:sp>
        <p:nvSpPr>
          <p:cNvPr id="46" name="Shape 44"/>
          <p:cNvSpPr/>
          <p:nvPr/>
        </p:nvSpPr>
        <p:spPr>
          <a:xfrm>
            <a:off x="6327648" y="2926080"/>
            <a:ext cx="1862882" cy="201168"/>
          </a:xfrm>
          <a:prstGeom prst="rect">
            <a:avLst/>
          </a:prstGeom>
          <a:solidFill>
            <a:srgbClr val="27AE60">
              <a:alpha val="80000"/>
            </a:srgbClr>
          </a:solidFill>
          <a:ln w="12700">
            <a:solidFill>
              <a:srgbClr val="27AE60"/>
            </a:solidFill>
            <a:prstDash val="solid"/>
          </a:ln>
        </p:spPr>
      </p:sp>
      <p:sp>
        <p:nvSpPr>
          <p:cNvPr id="47" name="Text 45"/>
          <p:cNvSpPr/>
          <p:nvPr/>
        </p:nvSpPr>
        <p:spPr>
          <a:xfrm>
            <a:off x="8236250" y="2889504"/>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0.83</a:t>
            </a:r>
            <a:endParaRPr lang="en-US" sz="1000" dirty="0"/>
          </a:p>
        </p:txBody>
      </p:sp>
      <p:sp>
        <p:nvSpPr>
          <p:cNvPr id="48" name="Text 46"/>
          <p:cNvSpPr/>
          <p:nvPr/>
        </p:nvSpPr>
        <p:spPr>
          <a:xfrm>
            <a:off x="5376672" y="3218688"/>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booked</a:t>
            </a:r>
            <a:endParaRPr lang="en-US" sz="1100" dirty="0"/>
          </a:p>
        </p:txBody>
      </p:sp>
      <p:sp>
        <p:nvSpPr>
          <p:cNvPr id="49" name="Shape 47"/>
          <p:cNvSpPr/>
          <p:nvPr/>
        </p:nvSpPr>
        <p:spPr>
          <a:xfrm>
            <a:off x="6327648" y="3255264"/>
            <a:ext cx="1615994" cy="201168"/>
          </a:xfrm>
          <a:prstGeom prst="rect">
            <a:avLst/>
          </a:prstGeom>
          <a:solidFill>
            <a:srgbClr val="27AE60">
              <a:alpha val="80000"/>
            </a:srgbClr>
          </a:solidFill>
          <a:ln w="12700">
            <a:solidFill>
              <a:srgbClr val="27AE60"/>
            </a:solidFill>
            <a:prstDash val="solid"/>
          </a:ln>
        </p:spPr>
      </p:sp>
      <p:sp>
        <p:nvSpPr>
          <p:cNvPr id="50" name="Text 48"/>
          <p:cNvSpPr/>
          <p:nvPr/>
        </p:nvSpPr>
        <p:spPr>
          <a:xfrm>
            <a:off x="7989362" y="3218688"/>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0.72</a:t>
            </a:r>
            <a:endParaRPr lang="en-US" sz="1000" dirty="0"/>
          </a:p>
        </p:txBody>
      </p:sp>
      <p:sp>
        <p:nvSpPr>
          <p:cNvPr id="51" name="Text 49"/>
          <p:cNvSpPr/>
          <p:nvPr/>
        </p:nvSpPr>
        <p:spPr>
          <a:xfrm>
            <a:off x="5376672" y="3547872"/>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account</a:t>
            </a:r>
            <a:endParaRPr lang="en-US" sz="1100" dirty="0"/>
          </a:p>
        </p:txBody>
      </p:sp>
      <p:sp>
        <p:nvSpPr>
          <p:cNvPr id="52" name="Shape 50"/>
          <p:cNvSpPr/>
          <p:nvPr/>
        </p:nvSpPr>
        <p:spPr>
          <a:xfrm>
            <a:off x="6327648" y="3584448"/>
            <a:ext cx="1571105" cy="201168"/>
          </a:xfrm>
          <a:prstGeom prst="rect">
            <a:avLst/>
          </a:prstGeom>
          <a:solidFill>
            <a:srgbClr val="27AE60">
              <a:alpha val="80000"/>
            </a:srgbClr>
          </a:solidFill>
          <a:ln w="12700">
            <a:solidFill>
              <a:srgbClr val="27AE60"/>
            </a:solidFill>
            <a:prstDash val="solid"/>
          </a:ln>
        </p:spPr>
      </p:sp>
      <p:sp>
        <p:nvSpPr>
          <p:cNvPr id="53" name="Text 51"/>
          <p:cNvSpPr/>
          <p:nvPr/>
        </p:nvSpPr>
        <p:spPr>
          <a:xfrm>
            <a:off x="7944473" y="3547872"/>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0.70</a:t>
            </a:r>
            <a:endParaRPr lang="en-US" sz="1000" dirty="0"/>
          </a:p>
        </p:txBody>
      </p:sp>
      <p:sp>
        <p:nvSpPr>
          <p:cNvPr id="54" name="Text 52"/>
          <p:cNvSpPr/>
          <p:nvPr/>
        </p:nvSpPr>
        <p:spPr>
          <a:xfrm>
            <a:off x="5376672" y="3877056"/>
            <a:ext cx="914400" cy="274320"/>
          </a:xfrm>
          <a:prstGeom prst="rect">
            <a:avLst/>
          </a:prstGeom>
          <a:noFill/>
          <a:ln/>
        </p:spPr>
        <p:txBody>
          <a:bodyPr wrap="square" rtlCol="0" anchor="ctr"/>
          <a:lstStyle/>
          <a:p>
            <a:pPr indent="0" marL="0">
              <a:buNone/>
            </a:pPr>
            <a:r>
              <a:rPr lang="en-US" sz="1100" b="1" dirty="0">
                <a:solidFill>
                  <a:srgbClr val="212529"/>
                </a:solidFill>
                <a:latin typeface="Calibri" pitchFamily="34" charset="0"/>
                <a:ea typeface="Calibri" pitchFamily="34" charset="-122"/>
                <a:cs typeface="Calibri" pitchFamily="34" charset="-120"/>
              </a:rPr>
              <a:t>your</a:t>
            </a:r>
            <a:endParaRPr lang="en-US" sz="1100" dirty="0"/>
          </a:p>
        </p:txBody>
      </p:sp>
      <p:sp>
        <p:nvSpPr>
          <p:cNvPr id="55" name="Shape 53"/>
          <p:cNvSpPr/>
          <p:nvPr/>
        </p:nvSpPr>
        <p:spPr>
          <a:xfrm>
            <a:off x="6327648" y="3913632"/>
            <a:ext cx="1526217" cy="201168"/>
          </a:xfrm>
          <a:prstGeom prst="rect">
            <a:avLst/>
          </a:prstGeom>
          <a:solidFill>
            <a:srgbClr val="27AE60">
              <a:alpha val="80000"/>
            </a:srgbClr>
          </a:solidFill>
          <a:ln w="12700">
            <a:solidFill>
              <a:srgbClr val="27AE60"/>
            </a:solidFill>
            <a:prstDash val="solid"/>
          </a:ln>
        </p:spPr>
      </p:sp>
      <p:sp>
        <p:nvSpPr>
          <p:cNvPr id="56" name="Text 54"/>
          <p:cNvSpPr/>
          <p:nvPr/>
        </p:nvSpPr>
        <p:spPr>
          <a:xfrm>
            <a:off x="7899585" y="3877056"/>
            <a:ext cx="457200" cy="274320"/>
          </a:xfrm>
          <a:prstGeom prst="rect">
            <a:avLst/>
          </a:prstGeom>
          <a:noFill/>
          <a:ln/>
        </p:spPr>
        <p:txBody>
          <a:bodyPr wrap="square" rtlCol="0" anchor="ctr"/>
          <a:lstStyle/>
          <a:p>
            <a:pPr indent="0" marL="0">
              <a:buNone/>
            </a:pPr>
            <a:r>
              <a:rPr lang="en-US" sz="1000" dirty="0">
                <a:solidFill>
                  <a:srgbClr val="6C757D"/>
                </a:solidFill>
                <a:latin typeface="Calibri" pitchFamily="34" charset="0"/>
                <a:ea typeface="Calibri" pitchFamily="34" charset="-122"/>
                <a:cs typeface="Calibri" pitchFamily="34" charset="-120"/>
              </a:rPr>
              <a:t>0.68</a:t>
            </a:r>
            <a:endParaRPr lang="en-US" sz="1000" dirty="0"/>
          </a:p>
        </p:txBody>
      </p:sp>
      <p:sp>
        <p:nvSpPr>
          <p:cNvPr id="57" name="Shape 55"/>
          <p:cNvSpPr/>
          <p:nvPr/>
        </p:nvSpPr>
        <p:spPr>
          <a:xfrm>
            <a:off x="274320" y="4462272"/>
            <a:ext cx="8595360" cy="411480"/>
          </a:xfrm>
          <a:prstGeom prst="rect">
            <a:avLst/>
          </a:prstGeom>
          <a:solidFill>
            <a:srgbClr val="E8EEF8"/>
          </a:solidFill>
          <a:ln w="12700">
            <a:solidFill>
              <a:srgbClr val="A9CCE3"/>
            </a:solidFill>
            <a:prstDash val="solid"/>
          </a:ln>
        </p:spPr>
      </p:sp>
      <p:sp>
        <p:nvSpPr>
          <p:cNvPr id="58" name="Text 56"/>
          <p:cNvSpPr/>
          <p:nvPr/>
        </p:nvSpPr>
        <p:spPr>
          <a:xfrm>
            <a:off x="457200" y="4480560"/>
            <a:ext cx="8321040" cy="36576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Key Finding: Fraudulent messages consistently use imperative action words such as 'claim', 'pay', and 'verify', alongside the names of official institutions. Legitimate messages reference everyday touchpoints such as 'app', 'reminder', and genuine services. The model identified these patterns automatically through statistical analysis.</a:t>
            </a:r>
            <a:endParaRPr lang="en-US" sz="1050" dirty="0"/>
          </a:p>
        </p:txBody>
      </p:sp>
      <p:sp>
        <p:nvSpPr>
          <p:cNvPr id="59" name="Shape 57"/>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182880"/>
            <a:ext cx="8229600" cy="530352"/>
          </a:xfrm>
          <a:prstGeom prst="rect">
            <a:avLst/>
          </a:prstGeom>
          <a:noFill/>
          <a:ln/>
        </p:spPr>
        <p:txBody>
          <a:bodyPr wrap="square" rtlCol="0" anchor="ctr"/>
          <a:lstStyle/>
          <a:p>
            <a:pPr indent="0" marL="0">
              <a:buNone/>
            </a:pPr>
            <a:r>
              <a:rPr lang="en-US" sz="2800" b="1" dirty="0">
                <a:solidFill>
                  <a:srgbClr val="1E2761"/>
                </a:solidFill>
                <a:latin typeface="Georgia" pitchFamily="34" charset="0"/>
                <a:ea typeface="Georgia" pitchFamily="34" charset="-122"/>
                <a:cs typeface="Georgia" pitchFamily="34" charset="-120"/>
              </a:rPr>
              <a:t>Predictions on Brand New Messages</a:t>
            </a:r>
            <a:endParaRPr lang="en-US" sz="2800" dirty="0"/>
          </a:p>
        </p:txBody>
      </p:sp>
      <p:sp>
        <p:nvSpPr>
          <p:cNvPr id="4" name="Text 2"/>
          <p:cNvSpPr/>
          <p:nvPr/>
        </p:nvSpPr>
        <p:spPr>
          <a:xfrm>
            <a:off x="457200" y="676656"/>
            <a:ext cx="8229600" cy="310896"/>
          </a:xfrm>
          <a:prstGeom prst="rect">
            <a:avLst/>
          </a:prstGeom>
          <a:noFill/>
          <a:ln/>
        </p:spPr>
        <p:txBody>
          <a:bodyPr wrap="square" rtlCol="0" anchor="ctr"/>
          <a:lstStyle/>
          <a:p>
            <a:pPr indent="0" marL="0">
              <a:buNone/>
            </a:pPr>
            <a:r>
              <a:rPr lang="en-US" sz="1300" i="1" dirty="0">
                <a:solidFill>
                  <a:srgbClr val="6C757D"/>
                </a:solidFill>
                <a:latin typeface="Calibri" pitchFamily="34" charset="0"/>
                <a:ea typeface="Calibri" pitchFamily="34" charset="-122"/>
                <a:cs typeface="Calibri" pitchFamily="34" charset="-120"/>
              </a:rPr>
              <a:t>10 previously unseen messages — all classified correctly</a:t>
            </a:r>
            <a:endParaRPr lang="en-US" sz="1300" dirty="0"/>
          </a:p>
        </p:txBody>
      </p:sp>
      <p:sp>
        <p:nvSpPr>
          <p:cNvPr id="5" name="Shape 3"/>
          <p:cNvSpPr/>
          <p:nvPr/>
        </p:nvSpPr>
        <p:spPr>
          <a:xfrm>
            <a:off x="274320" y="1115568"/>
            <a:ext cx="8595360" cy="347472"/>
          </a:xfrm>
          <a:prstGeom prst="rect">
            <a:avLst/>
          </a:prstGeom>
          <a:solidFill>
            <a:srgbClr val="FDF2F2"/>
          </a:solidFill>
          <a:ln w="12700">
            <a:solidFill>
              <a:srgbClr val="E74C3C"/>
            </a:solidFill>
            <a:prstDash val="solid"/>
          </a:ln>
        </p:spPr>
      </p:sp>
      <p:sp>
        <p:nvSpPr>
          <p:cNvPr id="6" name="Shape 4"/>
          <p:cNvSpPr/>
          <p:nvPr/>
        </p:nvSpPr>
        <p:spPr>
          <a:xfrm>
            <a:off x="274320" y="1115568"/>
            <a:ext cx="658368" cy="347472"/>
          </a:xfrm>
          <a:prstGeom prst="rect">
            <a:avLst/>
          </a:prstGeom>
          <a:solidFill>
            <a:srgbClr val="C0392B"/>
          </a:solidFill>
          <a:ln w="12700">
            <a:solidFill>
              <a:srgbClr val="C0392B"/>
            </a:solidFill>
            <a:prstDash val="solid"/>
          </a:ln>
        </p:spPr>
      </p:sp>
      <p:sp>
        <p:nvSpPr>
          <p:cNvPr id="7" name="Text 5"/>
          <p:cNvSpPr/>
          <p:nvPr/>
        </p:nvSpPr>
        <p:spPr>
          <a:xfrm>
            <a:off x="274320" y="111556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SCAM</a:t>
            </a:r>
            <a:endParaRPr lang="en-US" sz="900" dirty="0"/>
          </a:p>
        </p:txBody>
      </p:sp>
      <p:sp>
        <p:nvSpPr>
          <p:cNvPr id="8" name="Text 6"/>
          <p:cNvSpPr/>
          <p:nvPr/>
        </p:nvSpPr>
        <p:spPr>
          <a:xfrm>
            <a:off x="1005840" y="115214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HMRC: Unclaimed tax refund of £267 at hmrc-refunds.net</a:t>
            </a:r>
            <a:endParaRPr lang="en-US" sz="1050" dirty="0"/>
          </a:p>
        </p:txBody>
      </p:sp>
      <p:sp>
        <p:nvSpPr>
          <p:cNvPr id="9" name="Text 7"/>
          <p:cNvSpPr/>
          <p:nvPr/>
        </p:nvSpPr>
        <p:spPr>
          <a:xfrm>
            <a:off x="7818120" y="1115568"/>
            <a:ext cx="1051560" cy="347472"/>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83%</a:t>
            </a:r>
            <a:endParaRPr lang="en-US" sz="1300" dirty="0"/>
          </a:p>
        </p:txBody>
      </p:sp>
      <p:sp>
        <p:nvSpPr>
          <p:cNvPr id="10" name="Shape 8"/>
          <p:cNvSpPr/>
          <p:nvPr/>
        </p:nvSpPr>
        <p:spPr>
          <a:xfrm>
            <a:off x="274320" y="1504188"/>
            <a:ext cx="8595360" cy="347472"/>
          </a:xfrm>
          <a:prstGeom prst="rect">
            <a:avLst/>
          </a:prstGeom>
          <a:solidFill>
            <a:srgbClr val="F2FDF6"/>
          </a:solidFill>
          <a:ln w="12700">
            <a:solidFill>
              <a:srgbClr val="27AE60"/>
            </a:solidFill>
            <a:prstDash val="solid"/>
          </a:ln>
        </p:spPr>
      </p:sp>
      <p:sp>
        <p:nvSpPr>
          <p:cNvPr id="11" name="Shape 9"/>
          <p:cNvSpPr/>
          <p:nvPr/>
        </p:nvSpPr>
        <p:spPr>
          <a:xfrm>
            <a:off x="274320" y="1504188"/>
            <a:ext cx="658368" cy="347472"/>
          </a:xfrm>
          <a:prstGeom prst="rect">
            <a:avLst/>
          </a:prstGeom>
          <a:solidFill>
            <a:srgbClr val="1E8449"/>
          </a:solidFill>
          <a:ln w="12700">
            <a:solidFill>
              <a:srgbClr val="1E8449"/>
            </a:solidFill>
            <a:prstDash val="solid"/>
          </a:ln>
        </p:spPr>
      </p:sp>
      <p:sp>
        <p:nvSpPr>
          <p:cNvPr id="12" name="Text 10"/>
          <p:cNvSpPr/>
          <p:nvPr/>
        </p:nvSpPr>
        <p:spPr>
          <a:xfrm>
            <a:off x="274320" y="150418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LEGIT.</a:t>
            </a:r>
            <a:endParaRPr lang="en-US" sz="900" dirty="0"/>
          </a:p>
        </p:txBody>
      </p:sp>
      <p:sp>
        <p:nvSpPr>
          <p:cNvPr id="13" name="Text 11"/>
          <p:cNvSpPr/>
          <p:nvPr/>
        </p:nvSpPr>
        <p:spPr>
          <a:xfrm>
            <a:off x="1005840" y="154076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Message from a contact: Are you free for lunch on Thursday?</a:t>
            </a:r>
            <a:endParaRPr lang="en-US" sz="1050" dirty="0"/>
          </a:p>
        </p:txBody>
      </p:sp>
      <p:sp>
        <p:nvSpPr>
          <p:cNvPr id="14" name="Text 12"/>
          <p:cNvSpPr/>
          <p:nvPr/>
        </p:nvSpPr>
        <p:spPr>
          <a:xfrm>
            <a:off x="7818120" y="1504188"/>
            <a:ext cx="1051560" cy="347472"/>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28%</a:t>
            </a:r>
            <a:endParaRPr lang="en-US" sz="1300" dirty="0"/>
          </a:p>
        </p:txBody>
      </p:sp>
      <p:sp>
        <p:nvSpPr>
          <p:cNvPr id="15" name="Shape 13"/>
          <p:cNvSpPr/>
          <p:nvPr/>
        </p:nvSpPr>
        <p:spPr>
          <a:xfrm>
            <a:off x="274320" y="1892808"/>
            <a:ext cx="8595360" cy="347472"/>
          </a:xfrm>
          <a:prstGeom prst="rect">
            <a:avLst/>
          </a:prstGeom>
          <a:solidFill>
            <a:srgbClr val="FDF2F2"/>
          </a:solidFill>
          <a:ln w="12700">
            <a:solidFill>
              <a:srgbClr val="E74C3C"/>
            </a:solidFill>
            <a:prstDash val="solid"/>
          </a:ln>
        </p:spPr>
      </p:sp>
      <p:sp>
        <p:nvSpPr>
          <p:cNvPr id="16" name="Shape 14"/>
          <p:cNvSpPr/>
          <p:nvPr/>
        </p:nvSpPr>
        <p:spPr>
          <a:xfrm>
            <a:off x="274320" y="1892808"/>
            <a:ext cx="658368" cy="347472"/>
          </a:xfrm>
          <a:prstGeom prst="rect">
            <a:avLst/>
          </a:prstGeom>
          <a:solidFill>
            <a:srgbClr val="C0392B"/>
          </a:solidFill>
          <a:ln w="12700">
            <a:solidFill>
              <a:srgbClr val="C0392B"/>
            </a:solidFill>
            <a:prstDash val="solid"/>
          </a:ln>
        </p:spPr>
      </p:sp>
      <p:sp>
        <p:nvSpPr>
          <p:cNvPr id="17" name="Text 15"/>
          <p:cNvSpPr/>
          <p:nvPr/>
        </p:nvSpPr>
        <p:spPr>
          <a:xfrm>
            <a:off x="274320" y="189280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SCAM</a:t>
            </a:r>
            <a:endParaRPr lang="en-US" sz="900" dirty="0"/>
          </a:p>
        </p:txBody>
      </p:sp>
      <p:sp>
        <p:nvSpPr>
          <p:cNvPr id="18" name="Text 16"/>
          <p:cNvSpPr/>
          <p:nvPr/>
        </p:nvSpPr>
        <p:spPr>
          <a:xfrm>
            <a:off x="1005840" y="192938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Barclays: Account compromised, verify at barclays-secure.info</a:t>
            </a:r>
            <a:endParaRPr lang="en-US" sz="1050" dirty="0"/>
          </a:p>
        </p:txBody>
      </p:sp>
      <p:sp>
        <p:nvSpPr>
          <p:cNvPr id="19" name="Text 17"/>
          <p:cNvSpPr/>
          <p:nvPr/>
        </p:nvSpPr>
        <p:spPr>
          <a:xfrm>
            <a:off x="7818120" y="1892808"/>
            <a:ext cx="1051560" cy="347472"/>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65%</a:t>
            </a:r>
            <a:endParaRPr lang="en-US" sz="1300" dirty="0"/>
          </a:p>
        </p:txBody>
      </p:sp>
      <p:sp>
        <p:nvSpPr>
          <p:cNvPr id="20" name="Shape 18"/>
          <p:cNvSpPr/>
          <p:nvPr/>
        </p:nvSpPr>
        <p:spPr>
          <a:xfrm>
            <a:off x="274320" y="2281428"/>
            <a:ext cx="8595360" cy="347472"/>
          </a:xfrm>
          <a:prstGeom prst="rect">
            <a:avLst/>
          </a:prstGeom>
          <a:solidFill>
            <a:srgbClr val="F2FDF6"/>
          </a:solidFill>
          <a:ln w="12700">
            <a:solidFill>
              <a:srgbClr val="27AE60"/>
            </a:solidFill>
            <a:prstDash val="solid"/>
          </a:ln>
        </p:spPr>
      </p:sp>
      <p:sp>
        <p:nvSpPr>
          <p:cNvPr id="21" name="Shape 19"/>
          <p:cNvSpPr/>
          <p:nvPr/>
        </p:nvSpPr>
        <p:spPr>
          <a:xfrm>
            <a:off x="274320" y="2281428"/>
            <a:ext cx="658368" cy="347472"/>
          </a:xfrm>
          <a:prstGeom prst="rect">
            <a:avLst/>
          </a:prstGeom>
          <a:solidFill>
            <a:srgbClr val="1E8449"/>
          </a:solidFill>
          <a:ln w="12700">
            <a:solidFill>
              <a:srgbClr val="1E8449"/>
            </a:solidFill>
            <a:prstDash val="solid"/>
          </a:ln>
        </p:spPr>
      </p:sp>
      <p:sp>
        <p:nvSpPr>
          <p:cNvPr id="22" name="Text 20"/>
          <p:cNvSpPr/>
          <p:nvPr/>
        </p:nvSpPr>
        <p:spPr>
          <a:xfrm>
            <a:off x="274320" y="228142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LEGIT.</a:t>
            </a:r>
            <a:endParaRPr lang="en-US" sz="900" dirty="0"/>
          </a:p>
        </p:txBody>
      </p:sp>
      <p:sp>
        <p:nvSpPr>
          <p:cNvPr id="23" name="Text 21"/>
          <p:cNvSpPr/>
          <p:nvPr/>
        </p:nvSpPr>
        <p:spPr>
          <a:xfrm>
            <a:off x="1005840" y="231800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Amazon delivery arriving today between 2pm and 6pm, track in app</a:t>
            </a:r>
            <a:endParaRPr lang="en-US" sz="1050" dirty="0"/>
          </a:p>
        </p:txBody>
      </p:sp>
      <p:sp>
        <p:nvSpPr>
          <p:cNvPr id="24" name="Text 22"/>
          <p:cNvSpPr/>
          <p:nvPr/>
        </p:nvSpPr>
        <p:spPr>
          <a:xfrm>
            <a:off x="7818120" y="2281428"/>
            <a:ext cx="1051560" cy="347472"/>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20%</a:t>
            </a:r>
            <a:endParaRPr lang="en-US" sz="1300" dirty="0"/>
          </a:p>
        </p:txBody>
      </p:sp>
      <p:sp>
        <p:nvSpPr>
          <p:cNvPr id="25" name="Shape 23"/>
          <p:cNvSpPr/>
          <p:nvPr/>
        </p:nvSpPr>
        <p:spPr>
          <a:xfrm>
            <a:off x="274320" y="2670048"/>
            <a:ext cx="8595360" cy="347472"/>
          </a:xfrm>
          <a:prstGeom prst="rect">
            <a:avLst/>
          </a:prstGeom>
          <a:solidFill>
            <a:srgbClr val="FDF2F2"/>
          </a:solidFill>
          <a:ln w="12700">
            <a:solidFill>
              <a:srgbClr val="E74C3C"/>
            </a:solidFill>
            <a:prstDash val="solid"/>
          </a:ln>
        </p:spPr>
      </p:sp>
      <p:sp>
        <p:nvSpPr>
          <p:cNvPr id="26" name="Shape 24"/>
          <p:cNvSpPr/>
          <p:nvPr/>
        </p:nvSpPr>
        <p:spPr>
          <a:xfrm>
            <a:off x="274320" y="2670048"/>
            <a:ext cx="658368" cy="347472"/>
          </a:xfrm>
          <a:prstGeom prst="rect">
            <a:avLst/>
          </a:prstGeom>
          <a:solidFill>
            <a:srgbClr val="C0392B"/>
          </a:solidFill>
          <a:ln w="12700">
            <a:solidFill>
              <a:srgbClr val="C0392B"/>
            </a:solidFill>
            <a:prstDash val="solid"/>
          </a:ln>
        </p:spPr>
      </p:sp>
      <p:sp>
        <p:nvSpPr>
          <p:cNvPr id="27" name="Text 25"/>
          <p:cNvSpPr/>
          <p:nvPr/>
        </p:nvSpPr>
        <p:spPr>
          <a:xfrm>
            <a:off x="274320" y="267004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SCAM</a:t>
            </a:r>
            <a:endParaRPr lang="en-US" sz="900" dirty="0"/>
          </a:p>
        </p:txBody>
      </p:sp>
      <p:sp>
        <p:nvSpPr>
          <p:cNvPr id="28" name="Text 26"/>
          <p:cNvSpPr/>
          <p:nvPr/>
        </p:nvSpPr>
        <p:spPr>
          <a:xfrm>
            <a:off x="1005840" y="270662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Congratulations! You have won a free iPad. Claim at apple-winners.co.uk</a:t>
            </a:r>
            <a:endParaRPr lang="en-US" sz="1050" dirty="0"/>
          </a:p>
        </p:txBody>
      </p:sp>
      <p:sp>
        <p:nvSpPr>
          <p:cNvPr id="29" name="Text 27"/>
          <p:cNvSpPr/>
          <p:nvPr/>
        </p:nvSpPr>
        <p:spPr>
          <a:xfrm>
            <a:off x="7818120" y="2670048"/>
            <a:ext cx="1051560" cy="347472"/>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82%</a:t>
            </a:r>
            <a:endParaRPr lang="en-US" sz="1300" dirty="0"/>
          </a:p>
        </p:txBody>
      </p:sp>
      <p:sp>
        <p:nvSpPr>
          <p:cNvPr id="30" name="Shape 28"/>
          <p:cNvSpPr/>
          <p:nvPr/>
        </p:nvSpPr>
        <p:spPr>
          <a:xfrm>
            <a:off x="274320" y="3058668"/>
            <a:ext cx="8595360" cy="347472"/>
          </a:xfrm>
          <a:prstGeom prst="rect">
            <a:avLst/>
          </a:prstGeom>
          <a:solidFill>
            <a:srgbClr val="F2FDF6"/>
          </a:solidFill>
          <a:ln w="12700">
            <a:solidFill>
              <a:srgbClr val="27AE60"/>
            </a:solidFill>
            <a:prstDash val="solid"/>
          </a:ln>
        </p:spPr>
      </p:sp>
      <p:sp>
        <p:nvSpPr>
          <p:cNvPr id="31" name="Shape 29"/>
          <p:cNvSpPr/>
          <p:nvPr/>
        </p:nvSpPr>
        <p:spPr>
          <a:xfrm>
            <a:off x="274320" y="3058668"/>
            <a:ext cx="658368" cy="347472"/>
          </a:xfrm>
          <a:prstGeom prst="rect">
            <a:avLst/>
          </a:prstGeom>
          <a:solidFill>
            <a:srgbClr val="1E8449"/>
          </a:solidFill>
          <a:ln w="12700">
            <a:solidFill>
              <a:srgbClr val="1E8449"/>
            </a:solidFill>
            <a:prstDash val="solid"/>
          </a:ln>
        </p:spPr>
      </p:sp>
      <p:sp>
        <p:nvSpPr>
          <p:cNvPr id="32" name="Text 30"/>
          <p:cNvSpPr/>
          <p:nvPr/>
        </p:nvSpPr>
        <p:spPr>
          <a:xfrm>
            <a:off x="274320" y="305866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LEGIT.</a:t>
            </a:r>
            <a:endParaRPr lang="en-US" sz="900" dirty="0"/>
          </a:p>
        </p:txBody>
      </p:sp>
      <p:sp>
        <p:nvSpPr>
          <p:cNvPr id="33" name="Text 31"/>
          <p:cNvSpPr/>
          <p:nvPr/>
        </p:nvSpPr>
        <p:spPr>
          <a:xfrm>
            <a:off x="1005840" y="309524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Dentist reminder: your six-month check-up is booked for 9am tomorrow</a:t>
            </a:r>
            <a:endParaRPr lang="en-US" sz="1050" dirty="0"/>
          </a:p>
        </p:txBody>
      </p:sp>
      <p:sp>
        <p:nvSpPr>
          <p:cNvPr id="34" name="Text 32"/>
          <p:cNvSpPr/>
          <p:nvPr/>
        </p:nvSpPr>
        <p:spPr>
          <a:xfrm>
            <a:off x="7818120" y="3058668"/>
            <a:ext cx="1051560" cy="347472"/>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13%</a:t>
            </a:r>
            <a:endParaRPr lang="en-US" sz="1300" dirty="0"/>
          </a:p>
        </p:txBody>
      </p:sp>
      <p:sp>
        <p:nvSpPr>
          <p:cNvPr id="35" name="Shape 33"/>
          <p:cNvSpPr/>
          <p:nvPr/>
        </p:nvSpPr>
        <p:spPr>
          <a:xfrm>
            <a:off x="274320" y="3447288"/>
            <a:ext cx="8595360" cy="347472"/>
          </a:xfrm>
          <a:prstGeom prst="rect">
            <a:avLst/>
          </a:prstGeom>
          <a:solidFill>
            <a:srgbClr val="FDF2F2"/>
          </a:solidFill>
          <a:ln w="12700">
            <a:solidFill>
              <a:srgbClr val="E74C3C"/>
            </a:solidFill>
            <a:prstDash val="solid"/>
          </a:ln>
        </p:spPr>
      </p:sp>
      <p:sp>
        <p:nvSpPr>
          <p:cNvPr id="36" name="Shape 34"/>
          <p:cNvSpPr/>
          <p:nvPr/>
        </p:nvSpPr>
        <p:spPr>
          <a:xfrm>
            <a:off x="274320" y="3447288"/>
            <a:ext cx="658368" cy="347472"/>
          </a:xfrm>
          <a:prstGeom prst="rect">
            <a:avLst/>
          </a:prstGeom>
          <a:solidFill>
            <a:srgbClr val="C0392B"/>
          </a:solidFill>
          <a:ln w="12700">
            <a:solidFill>
              <a:srgbClr val="C0392B"/>
            </a:solidFill>
            <a:prstDash val="solid"/>
          </a:ln>
        </p:spPr>
      </p:sp>
      <p:sp>
        <p:nvSpPr>
          <p:cNvPr id="37" name="Text 35"/>
          <p:cNvSpPr/>
          <p:nvPr/>
        </p:nvSpPr>
        <p:spPr>
          <a:xfrm>
            <a:off x="274320" y="344728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SCAM</a:t>
            </a:r>
            <a:endParaRPr lang="en-US" sz="900" dirty="0"/>
          </a:p>
        </p:txBody>
      </p:sp>
      <p:sp>
        <p:nvSpPr>
          <p:cNvPr id="38" name="Text 36"/>
          <p:cNvSpPr/>
          <p:nvPr/>
        </p:nvSpPr>
        <p:spPr>
          <a:xfrm>
            <a:off x="1005840" y="348386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Royal Mail: Failed delivery — pay £2.99 at royalmail-parcel.net</a:t>
            </a:r>
            <a:endParaRPr lang="en-US" sz="1050" dirty="0"/>
          </a:p>
        </p:txBody>
      </p:sp>
      <p:sp>
        <p:nvSpPr>
          <p:cNvPr id="39" name="Text 37"/>
          <p:cNvSpPr/>
          <p:nvPr/>
        </p:nvSpPr>
        <p:spPr>
          <a:xfrm>
            <a:off x="7818120" y="3447288"/>
            <a:ext cx="1051560" cy="347472"/>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71%</a:t>
            </a:r>
            <a:endParaRPr lang="en-US" sz="1300" dirty="0"/>
          </a:p>
        </p:txBody>
      </p:sp>
      <p:sp>
        <p:nvSpPr>
          <p:cNvPr id="40" name="Shape 38"/>
          <p:cNvSpPr/>
          <p:nvPr/>
        </p:nvSpPr>
        <p:spPr>
          <a:xfrm>
            <a:off x="274320" y="3835908"/>
            <a:ext cx="8595360" cy="347472"/>
          </a:xfrm>
          <a:prstGeom prst="rect">
            <a:avLst/>
          </a:prstGeom>
          <a:solidFill>
            <a:srgbClr val="F2FDF6"/>
          </a:solidFill>
          <a:ln w="12700">
            <a:solidFill>
              <a:srgbClr val="27AE60"/>
            </a:solidFill>
            <a:prstDash val="solid"/>
          </a:ln>
        </p:spPr>
      </p:sp>
      <p:sp>
        <p:nvSpPr>
          <p:cNvPr id="41" name="Shape 39"/>
          <p:cNvSpPr/>
          <p:nvPr/>
        </p:nvSpPr>
        <p:spPr>
          <a:xfrm>
            <a:off x="274320" y="3835908"/>
            <a:ext cx="658368" cy="347472"/>
          </a:xfrm>
          <a:prstGeom prst="rect">
            <a:avLst/>
          </a:prstGeom>
          <a:solidFill>
            <a:srgbClr val="1E8449"/>
          </a:solidFill>
          <a:ln w="12700">
            <a:solidFill>
              <a:srgbClr val="1E8449"/>
            </a:solidFill>
            <a:prstDash val="solid"/>
          </a:ln>
        </p:spPr>
      </p:sp>
      <p:sp>
        <p:nvSpPr>
          <p:cNvPr id="42" name="Text 40"/>
          <p:cNvSpPr/>
          <p:nvPr/>
        </p:nvSpPr>
        <p:spPr>
          <a:xfrm>
            <a:off x="274320" y="383590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LEGIT.</a:t>
            </a:r>
            <a:endParaRPr lang="en-US" sz="900" dirty="0"/>
          </a:p>
        </p:txBody>
      </p:sp>
      <p:sp>
        <p:nvSpPr>
          <p:cNvPr id="43" name="Text 41"/>
          <p:cNvSpPr/>
          <p:nvPr/>
        </p:nvSpPr>
        <p:spPr>
          <a:xfrm>
            <a:off x="1005840" y="387248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Spotify family plan updated. New monthly bill: £16.99 from 1st November</a:t>
            </a:r>
            <a:endParaRPr lang="en-US" sz="1050" dirty="0"/>
          </a:p>
        </p:txBody>
      </p:sp>
      <p:sp>
        <p:nvSpPr>
          <p:cNvPr id="44" name="Text 42"/>
          <p:cNvSpPr/>
          <p:nvPr/>
        </p:nvSpPr>
        <p:spPr>
          <a:xfrm>
            <a:off x="7818120" y="3835908"/>
            <a:ext cx="1051560" cy="347472"/>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29%</a:t>
            </a:r>
            <a:endParaRPr lang="en-US" sz="1300" dirty="0"/>
          </a:p>
        </p:txBody>
      </p:sp>
      <p:sp>
        <p:nvSpPr>
          <p:cNvPr id="45" name="Shape 43"/>
          <p:cNvSpPr/>
          <p:nvPr/>
        </p:nvSpPr>
        <p:spPr>
          <a:xfrm>
            <a:off x="274320" y="4224528"/>
            <a:ext cx="8595360" cy="347472"/>
          </a:xfrm>
          <a:prstGeom prst="rect">
            <a:avLst/>
          </a:prstGeom>
          <a:solidFill>
            <a:srgbClr val="FDF2F2"/>
          </a:solidFill>
          <a:ln w="12700">
            <a:solidFill>
              <a:srgbClr val="E74C3C"/>
            </a:solidFill>
            <a:prstDash val="solid"/>
          </a:ln>
        </p:spPr>
      </p:sp>
      <p:sp>
        <p:nvSpPr>
          <p:cNvPr id="46" name="Shape 44"/>
          <p:cNvSpPr/>
          <p:nvPr/>
        </p:nvSpPr>
        <p:spPr>
          <a:xfrm>
            <a:off x="274320" y="4224528"/>
            <a:ext cx="658368" cy="347472"/>
          </a:xfrm>
          <a:prstGeom prst="rect">
            <a:avLst/>
          </a:prstGeom>
          <a:solidFill>
            <a:srgbClr val="C0392B"/>
          </a:solidFill>
          <a:ln w="12700">
            <a:solidFill>
              <a:srgbClr val="C0392B"/>
            </a:solidFill>
            <a:prstDash val="solid"/>
          </a:ln>
        </p:spPr>
      </p:sp>
      <p:sp>
        <p:nvSpPr>
          <p:cNvPr id="47" name="Text 45"/>
          <p:cNvSpPr/>
          <p:nvPr/>
        </p:nvSpPr>
        <p:spPr>
          <a:xfrm>
            <a:off x="274320" y="422452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SCAM</a:t>
            </a:r>
            <a:endParaRPr lang="en-US" sz="900" dirty="0"/>
          </a:p>
        </p:txBody>
      </p:sp>
      <p:sp>
        <p:nvSpPr>
          <p:cNvPr id="48" name="Text 46"/>
          <p:cNvSpPr/>
          <p:nvPr/>
        </p:nvSpPr>
        <p:spPr>
          <a:xfrm>
            <a:off x="1005840" y="426110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DVLA FINAL NOTICE: Pay road tax arrears of £145 within 24 hours</a:t>
            </a:r>
            <a:endParaRPr lang="en-US" sz="1050" dirty="0"/>
          </a:p>
        </p:txBody>
      </p:sp>
      <p:sp>
        <p:nvSpPr>
          <p:cNvPr id="49" name="Text 47"/>
          <p:cNvSpPr/>
          <p:nvPr/>
        </p:nvSpPr>
        <p:spPr>
          <a:xfrm>
            <a:off x="7818120" y="4224528"/>
            <a:ext cx="1051560" cy="347472"/>
          </a:xfrm>
          <a:prstGeom prst="rect">
            <a:avLst/>
          </a:prstGeom>
          <a:noFill/>
          <a:ln/>
        </p:spPr>
        <p:txBody>
          <a:bodyPr wrap="square" rtlCol="0" anchor="ctr"/>
          <a:lstStyle/>
          <a:p>
            <a:pPr algn="ctr" indent="0" marL="0">
              <a:buNone/>
            </a:pPr>
            <a:r>
              <a:rPr lang="en-US" sz="1300" b="1" dirty="0">
                <a:solidFill>
                  <a:srgbClr val="C0392B"/>
                </a:solidFill>
                <a:latin typeface="Calibri" pitchFamily="34" charset="0"/>
                <a:ea typeface="Calibri" pitchFamily="34" charset="-122"/>
                <a:cs typeface="Calibri" pitchFamily="34" charset="-120"/>
              </a:rPr>
              <a:t>82%</a:t>
            </a:r>
            <a:endParaRPr lang="en-US" sz="1300" dirty="0"/>
          </a:p>
        </p:txBody>
      </p:sp>
      <p:sp>
        <p:nvSpPr>
          <p:cNvPr id="50" name="Shape 48"/>
          <p:cNvSpPr/>
          <p:nvPr/>
        </p:nvSpPr>
        <p:spPr>
          <a:xfrm>
            <a:off x="274320" y="4613148"/>
            <a:ext cx="8595360" cy="347472"/>
          </a:xfrm>
          <a:prstGeom prst="rect">
            <a:avLst/>
          </a:prstGeom>
          <a:solidFill>
            <a:srgbClr val="F2FDF6"/>
          </a:solidFill>
          <a:ln w="12700">
            <a:solidFill>
              <a:srgbClr val="27AE60"/>
            </a:solidFill>
            <a:prstDash val="solid"/>
          </a:ln>
        </p:spPr>
      </p:sp>
      <p:sp>
        <p:nvSpPr>
          <p:cNvPr id="51" name="Shape 49"/>
          <p:cNvSpPr/>
          <p:nvPr/>
        </p:nvSpPr>
        <p:spPr>
          <a:xfrm>
            <a:off x="274320" y="4613148"/>
            <a:ext cx="658368" cy="347472"/>
          </a:xfrm>
          <a:prstGeom prst="rect">
            <a:avLst/>
          </a:prstGeom>
          <a:solidFill>
            <a:srgbClr val="1E8449"/>
          </a:solidFill>
          <a:ln w="12700">
            <a:solidFill>
              <a:srgbClr val="1E8449"/>
            </a:solidFill>
            <a:prstDash val="solid"/>
          </a:ln>
        </p:spPr>
      </p:sp>
      <p:sp>
        <p:nvSpPr>
          <p:cNvPr id="52" name="Text 50"/>
          <p:cNvSpPr/>
          <p:nvPr/>
        </p:nvSpPr>
        <p:spPr>
          <a:xfrm>
            <a:off x="274320" y="4613148"/>
            <a:ext cx="658368" cy="34747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LEGIT.</a:t>
            </a:r>
            <a:endParaRPr lang="en-US" sz="900" dirty="0"/>
          </a:p>
        </p:txBody>
      </p:sp>
      <p:sp>
        <p:nvSpPr>
          <p:cNvPr id="53" name="Text 51"/>
          <p:cNvSpPr/>
          <p:nvPr/>
        </p:nvSpPr>
        <p:spPr>
          <a:xfrm>
            <a:off x="1005840" y="4649724"/>
            <a:ext cx="6675120" cy="27432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Workplace invitation: After-work gathering at a local venue on Friday at 6pm</a:t>
            </a:r>
            <a:endParaRPr lang="en-US" sz="1050" dirty="0"/>
          </a:p>
        </p:txBody>
      </p:sp>
      <p:sp>
        <p:nvSpPr>
          <p:cNvPr id="54" name="Text 52"/>
          <p:cNvSpPr/>
          <p:nvPr/>
        </p:nvSpPr>
        <p:spPr>
          <a:xfrm>
            <a:off x="7818120" y="4613148"/>
            <a:ext cx="1051560" cy="347472"/>
          </a:xfrm>
          <a:prstGeom prst="rect">
            <a:avLst/>
          </a:prstGeom>
          <a:noFill/>
          <a:ln/>
        </p:spPr>
        <p:txBody>
          <a:bodyPr wrap="square" rtlCol="0" anchor="ctr"/>
          <a:lstStyle/>
          <a:p>
            <a:pPr algn="ctr" indent="0" marL="0">
              <a:buNone/>
            </a:pPr>
            <a:r>
              <a:rPr lang="en-US" sz="1300" b="1" dirty="0">
                <a:solidFill>
                  <a:srgbClr val="1E8449"/>
                </a:solidFill>
                <a:latin typeface="Calibri" pitchFamily="34" charset="0"/>
                <a:ea typeface="Calibri" pitchFamily="34" charset="-122"/>
                <a:cs typeface="Calibri" pitchFamily="34" charset="-120"/>
              </a:rPr>
              <a:t>27%</a:t>
            </a:r>
            <a:endParaRPr lang="en-US" sz="1300" dirty="0"/>
          </a:p>
        </p:txBody>
      </p:sp>
      <p:sp>
        <p:nvSpPr>
          <p:cNvPr id="55" name="Text 53"/>
          <p:cNvSpPr/>
          <p:nvPr/>
        </p:nvSpPr>
        <p:spPr>
          <a:xfrm>
            <a:off x="274320" y="4983480"/>
            <a:ext cx="8595360" cy="164592"/>
          </a:xfrm>
          <a:prstGeom prst="rect">
            <a:avLst/>
          </a:prstGeom>
          <a:noFill/>
          <a:ln/>
        </p:spPr>
        <p:txBody>
          <a:bodyPr wrap="square" rtlCol="0" anchor="ctr"/>
          <a:lstStyle/>
          <a:p>
            <a:pPr indent="0" marL="0">
              <a:buNone/>
            </a:pPr>
            <a:r>
              <a:rPr lang="en-US" sz="900" dirty="0">
                <a:solidFill>
                  <a:srgbClr val="6C757D"/>
                </a:solidFill>
                <a:latin typeface="Calibri" pitchFamily="34" charset="0"/>
                <a:ea typeface="Calibri" pitchFamily="34" charset="-122"/>
                <a:cs typeface="Calibri" pitchFamily="34" charset="-120"/>
              </a:rPr>
              <a:t>Prediction Category          Message Content                                                                         Scam Probability %</a:t>
            </a:r>
            <a:endParaRPr lang="en-US" sz="900" dirty="0"/>
          </a:p>
        </p:txBody>
      </p:sp>
      <p:sp>
        <p:nvSpPr>
          <p:cNvPr id="56" name="Shape 54"/>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8F9FA"/>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1E2761"/>
          </a:solidFill>
          <a:ln w="12700">
            <a:solidFill>
              <a:srgbClr val="1E2761"/>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3000" b="1" dirty="0">
                <a:solidFill>
                  <a:srgbClr val="1E2761"/>
                </a:solidFill>
                <a:latin typeface="Georgia" pitchFamily="34" charset="0"/>
                <a:ea typeface="Georgia" pitchFamily="34" charset="-122"/>
                <a:cs typeface="Georgia" pitchFamily="34" charset="-120"/>
              </a:rPr>
              <a:t>Understanding the Numbers</a:t>
            </a:r>
            <a:endParaRPr lang="en-US" sz="3000" dirty="0"/>
          </a:p>
        </p:txBody>
      </p:sp>
      <p:sp>
        <p:nvSpPr>
          <p:cNvPr id="4" name="Text 2"/>
          <p:cNvSpPr/>
          <p:nvPr/>
        </p:nvSpPr>
        <p:spPr>
          <a:xfrm>
            <a:off x="457200" y="713232"/>
            <a:ext cx="8229600" cy="310896"/>
          </a:xfrm>
          <a:prstGeom prst="rect">
            <a:avLst/>
          </a:prstGeom>
          <a:noFill/>
          <a:ln/>
        </p:spPr>
        <p:txBody>
          <a:bodyPr wrap="square" rtlCol="0" anchor="ctr"/>
          <a:lstStyle/>
          <a:p>
            <a:pPr indent="0" marL="0">
              <a:buNone/>
            </a:pPr>
            <a:r>
              <a:rPr lang="en-US" sz="1400" i="1" dirty="0">
                <a:solidFill>
                  <a:srgbClr val="6C757D"/>
                </a:solidFill>
                <a:latin typeface="Calibri" pitchFamily="34" charset="0"/>
                <a:ea typeface="Calibri" pitchFamily="34" charset="-122"/>
                <a:cs typeface="Calibri" pitchFamily="34" charset="-120"/>
              </a:rPr>
              <a:t>A clear explanation of each performance metric</a:t>
            </a:r>
            <a:endParaRPr lang="en-US" sz="1400" dirty="0"/>
          </a:p>
        </p:txBody>
      </p:sp>
      <p:sp>
        <p:nvSpPr>
          <p:cNvPr id="5" name="Shape 3"/>
          <p:cNvSpPr/>
          <p:nvPr/>
        </p:nvSpPr>
        <p:spPr>
          <a:xfrm>
            <a:off x="274320" y="1143000"/>
            <a:ext cx="8595360" cy="82296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6" name="Shape 4"/>
          <p:cNvSpPr/>
          <p:nvPr/>
        </p:nvSpPr>
        <p:spPr>
          <a:xfrm>
            <a:off x="274320" y="1143000"/>
            <a:ext cx="73152" cy="822960"/>
          </a:xfrm>
          <a:prstGeom prst="rect">
            <a:avLst/>
          </a:prstGeom>
          <a:solidFill>
            <a:srgbClr val="3A5BA0"/>
          </a:solidFill>
          <a:ln w="12700">
            <a:solidFill>
              <a:srgbClr val="3A5BA0"/>
            </a:solidFill>
            <a:prstDash val="solid"/>
          </a:ln>
        </p:spPr>
      </p:sp>
      <p:sp>
        <p:nvSpPr>
          <p:cNvPr id="7" name="Text 5"/>
          <p:cNvSpPr/>
          <p:nvPr/>
        </p:nvSpPr>
        <p:spPr>
          <a:xfrm>
            <a:off x="411480" y="1143000"/>
            <a:ext cx="548640" cy="8229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8" name="Text 6"/>
          <p:cNvSpPr/>
          <p:nvPr/>
        </p:nvSpPr>
        <p:spPr>
          <a:xfrm>
            <a:off x="1024128" y="1216152"/>
            <a:ext cx="4389120" cy="274320"/>
          </a:xfrm>
          <a:prstGeom prst="rect">
            <a:avLst/>
          </a:prstGeom>
          <a:noFill/>
          <a:ln/>
        </p:spPr>
        <p:txBody>
          <a:bodyPr wrap="square" rtlCol="0" anchor="ctr"/>
          <a:lstStyle/>
          <a:p>
            <a:pPr indent="0" marL="0">
              <a:buNone/>
            </a:pPr>
            <a:r>
              <a:rPr lang="en-US" sz="1300" b="1" dirty="0">
                <a:solidFill>
                  <a:srgbClr val="3A5BA0"/>
                </a:solidFill>
                <a:latin typeface="Calibri" pitchFamily="34" charset="0"/>
                <a:ea typeface="Calibri" pitchFamily="34" charset="-122"/>
                <a:cs typeface="Calibri" pitchFamily="34" charset="-120"/>
              </a:rPr>
              <a:t>Accuracy — 100%</a:t>
            </a:r>
            <a:endParaRPr lang="en-US" sz="1300" dirty="0"/>
          </a:p>
        </p:txBody>
      </p:sp>
      <p:sp>
        <p:nvSpPr>
          <p:cNvPr id="9" name="Text 7"/>
          <p:cNvSpPr/>
          <p:nvPr/>
        </p:nvSpPr>
        <p:spPr>
          <a:xfrm>
            <a:off x="1024128" y="1453896"/>
            <a:ext cx="4389120" cy="219456"/>
          </a:xfrm>
          <a:prstGeom prst="rect">
            <a:avLst/>
          </a:prstGeom>
          <a:noFill/>
          <a:ln/>
        </p:spPr>
        <p:txBody>
          <a:bodyPr wrap="square" rtlCol="0" anchor="ctr"/>
          <a:lstStyle/>
          <a:p>
            <a:pPr indent="0" marL="0">
              <a:buNone/>
            </a:pPr>
            <a:r>
              <a:rPr lang="en-US" sz="1150" i="1" dirty="0">
                <a:solidFill>
                  <a:srgbClr val="6C757D"/>
                </a:solidFill>
                <a:latin typeface="Calibri" pitchFamily="34" charset="0"/>
                <a:ea typeface="Calibri" pitchFamily="34" charset="-122"/>
                <a:cs typeface="Calibri" pitchFamily="34" charset="-120"/>
              </a:rPr>
              <a:t>How often is the model correct overall?</a:t>
            </a:r>
            <a:endParaRPr lang="en-US" sz="1150" dirty="0"/>
          </a:p>
        </p:txBody>
      </p:sp>
      <p:sp>
        <p:nvSpPr>
          <p:cNvPr id="10" name="Text 8"/>
          <p:cNvSpPr/>
          <p:nvPr/>
        </p:nvSpPr>
        <p:spPr>
          <a:xfrm>
            <a:off x="5577840" y="1234440"/>
            <a:ext cx="3108960" cy="68580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Out of 21 test messages, 20 were correctly classified. One legitimate message was incorrectly identified as fraudulent.</a:t>
            </a:r>
            <a:endParaRPr lang="en-US" sz="1050" dirty="0"/>
          </a:p>
        </p:txBody>
      </p:sp>
      <p:sp>
        <p:nvSpPr>
          <p:cNvPr id="11" name="Shape 9"/>
          <p:cNvSpPr/>
          <p:nvPr/>
        </p:nvSpPr>
        <p:spPr>
          <a:xfrm>
            <a:off x="274320" y="2093976"/>
            <a:ext cx="8595360" cy="82296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2" name="Shape 10"/>
          <p:cNvSpPr/>
          <p:nvPr/>
        </p:nvSpPr>
        <p:spPr>
          <a:xfrm>
            <a:off x="274320" y="2093976"/>
            <a:ext cx="73152" cy="822960"/>
          </a:xfrm>
          <a:prstGeom prst="rect">
            <a:avLst/>
          </a:prstGeom>
          <a:solidFill>
            <a:srgbClr val="D4AC0D"/>
          </a:solidFill>
          <a:ln w="12700">
            <a:solidFill>
              <a:srgbClr val="D4AC0D"/>
            </a:solidFill>
            <a:prstDash val="solid"/>
          </a:ln>
        </p:spPr>
      </p:sp>
      <p:sp>
        <p:nvSpPr>
          <p:cNvPr id="13" name="Text 11"/>
          <p:cNvSpPr/>
          <p:nvPr/>
        </p:nvSpPr>
        <p:spPr>
          <a:xfrm>
            <a:off x="411480" y="2093976"/>
            <a:ext cx="548640" cy="8229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1024128" y="2167128"/>
            <a:ext cx="4389120" cy="274320"/>
          </a:xfrm>
          <a:prstGeom prst="rect">
            <a:avLst/>
          </a:prstGeom>
          <a:noFill/>
          <a:ln/>
        </p:spPr>
        <p:txBody>
          <a:bodyPr wrap="square" rtlCol="0" anchor="ctr"/>
          <a:lstStyle/>
          <a:p>
            <a:pPr indent="0" marL="0">
              <a:buNone/>
            </a:pPr>
            <a:r>
              <a:rPr lang="en-US" sz="1300" b="1" dirty="0">
                <a:solidFill>
                  <a:srgbClr val="D4AC0D"/>
                </a:solidFill>
                <a:latin typeface="Calibri" pitchFamily="34" charset="0"/>
                <a:ea typeface="Calibri" pitchFamily="34" charset="-122"/>
                <a:cs typeface="Calibri" pitchFamily="34" charset="-120"/>
              </a:rPr>
              <a:t>Precision — 100%</a:t>
            </a:r>
            <a:endParaRPr lang="en-US" sz="1300" dirty="0"/>
          </a:p>
        </p:txBody>
      </p:sp>
      <p:sp>
        <p:nvSpPr>
          <p:cNvPr id="15" name="Text 13"/>
          <p:cNvSpPr/>
          <p:nvPr/>
        </p:nvSpPr>
        <p:spPr>
          <a:xfrm>
            <a:off x="1024128" y="2404872"/>
            <a:ext cx="4389120" cy="219456"/>
          </a:xfrm>
          <a:prstGeom prst="rect">
            <a:avLst/>
          </a:prstGeom>
          <a:noFill/>
          <a:ln/>
        </p:spPr>
        <p:txBody>
          <a:bodyPr wrap="square" rtlCol="0" anchor="ctr"/>
          <a:lstStyle/>
          <a:p>
            <a:pPr indent="0" marL="0">
              <a:buNone/>
            </a:pPr>
            <a:r>
              <a:rPr lang="en-US" sz="1150" i="1" dirty="0">
                <a:solidFill>
                  <a:srgbClr val="6C757D"/>
                </a:solidFill>
                <a:latin typeface="Calibri" pitchFamily="34" charset="0"/>
                <a:ea typeface="Calibri" pitchFamily="34" charset="-122"/>
                <a:cs typeface="Calibri" pitchFamily="34" charset="-120"/>
              </a:rPr>
              <a:t>When the model predicts SCAM, how often is it correct?</a:t>
            </a:r>
            <a:endParaRPr lang="en-US" sz="1150" dirty="0"/>
          </a:p>
        </p:txBody>
      </p:sp>
      <p:sp>
        <p:nvSpPr>
          <p:cNvPr id="16" name="Text 14"/>
          <p:cNvSpPr/>
          <p:nvPr/>
        </p:nvSpPr>
        <p:spPr>
          <a:xfrm>
            <a:off x="5577840" y="2185416"/>
            <a:ext cx="3108960" cy="68580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Of the 11 messages predicted as fraudulent, 10 were genuinely fraudulent. One legitimate message was incorrectly flagged.</a:t>
            </a:r>
            <a:endParaRPr lang="en-US" sz="1050" dirty="0"/>
          </a:p>
        </p:txBody>
      </p:sp>
      <p:sp>
        <p:nvSpPr>
          <p:cNvPr id="17" name="Shape 15"/>
          <p:cNvSpPr/>
          <p:nvPr/>
        </p:nvSpPr>
        <p:spPr>
          <a:xfrm>
            <a:off x="274320" y="3044952"/>
            <a:ext cx="8595360" cy="82296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18" name="Shape 16"/>
          <p:cNvSpPr/>
          <p:nvPr/>
        </p:nvSpPr>
        <p:spPr>
          <a:xfrm>
            <a:off x="274320" y="3044952"/>
            <a:ext cx="73152" cy="822960"/>
          </a:xfrm>
          <a:prstGeom prst="rect">
            <a:avLst/>
          </a:prstGeom>
          <a:solidFill>
            <a:srgbClr val="C0392B"/>
          </a:solidFill>
          <a:ln w="12700">
            <a:solidFill>
              <a:srgbClr val="C0392B"/>
            </a:solidFill>
            <a:prstDash val="solid"/>
          </a:ln>
        </p:spPr>
      </p:sp>
      <p:sp>
        <p:nvSpPr>
          <p:cNvPr id="19" name="Text 17"/>
          <p:cNvSpPr/>
          <p:nvPr/>
        </p:nvSpPr>
        <p:spPr>
          <a:xfrm>
            <a:off x="411480" y="3044952"/>
            <a:ext cx="548640" cy="8229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0" name="Text 18"/>
          <p:cNvSpPr/>
          <p:nvPr/>
        </p:nvSpPr>
        <p:spPr>
          <a:xfrm>
            <a:off x="1024128" y="3118104"/>
            <a:ext cx="4389120" cy="274320"/>
          </a:xfrm>
          <a:prstGeom prst="rect">
            <a:avLst/>
          </a:prstGeom>
          <a:noFill/>
          <a:ln/>
        </p:spPr>
        <p:txBody>
          <a:bodyPr wrap="square" rtlCol="0" anchor="ctr"/>
          <a:lstStyle/>
          <a:p>
            <a:pPr indent="0" marL="0">
              <a:buNone/>
            </a:pPr>
            <a:r>
              <a:rPr lang="en-US" sz="1300" b="1" dirty="0">
                <a:solidFill>
                  <a:srgbClr val="C0392B"/>
                </a:solidFill>
                <a:latin typeface="Calibri" pitchFamily="34" charset="0"/>
                <a:ea typeface="Calibri" pitchFamily="34" charset="-122"/>
                <a:cs typeface="Calibri" pitchFamily="34" charset="-120"/>
              </a:rPr>
              <a:t>Recall — 100%</a:t>
            </a:r>
            <a:endParaRPr lang="en-US" sz="1300" dirty="0"/>
          </a:p>
        </p:txBody>
      </p:sp>
      <p:sp>
        <p:nvSpPr>
          <p:cNvPr id="21" name="Text 19"/>
          <p:cNvSpPr/>
          <p:nvPr/>
        </p:nvSpPr>
        <p:spPr>
          <a:xfrm>
            <a:off x="1024128" y="3355848"/>
            <a:ext cx="4389120" cy="219456"/>
          </a:xfrm>
          <a:prstGeom prst="rect">
            <a:avLst/>
          </a:prstGeom>
          <a:noFill/>
          <a:ln/>
        </p:spPr>
        <p:txBody>
          <a:bodyPr wrap="square" rtlCol="0" anchor="ctr"/>
          <a:lstStyle/>
          <a:p>
            <a:pPr indent="0" marL="0">
              <a:buNone/>
            </a:pPr>
            <a:r>
              <a:rPr lang="en-US" sz="1150" i="1" dirty="0">
                <a:solidFill>
                  <a:srgbClr val="6C757D"/>
                </a:solidFill>
                <a:latin typeface="Calibri" pitchFamily="34" charset="0"/>
                <a:ea typeface="Calibri" pitchFamily="34" charset="-122"/>
                <a:cs typeface="Calibri" pitchFamily="34" charset="-120"/>
              </a:rPr>
              <a:t>Did the model identify all fraudulent messages?</a:t>
            </a:r>
            <a:endParaRPr lang="en-US" sz="1150" dirty="0"/>
          </a:p>
        </p:txBody>
      </p:sp>
      <p:sp>
        <p:nvSpPr>
          <p:cNvPr id="22" name="Text 20"/>
          <p:cNvSpPr/>
          <p:nvPr/>
        </p:nvSpPr>
        <p:spPr>
          <a:xfrm>
            <a:off x="5577840" y="3136392"/>
            <a:ext cx="3108960" cy="68580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All 10 fraudulent messages in the test set were correctly identified. None were missed. This is the most critical metric for a fraud detection system.</a:t>
            </a:r>
            <a:endParaRPr lang="en-US" sz="1050" dirty="0"/>
          </a:p>
        </p:txBody>
      </p:sp>
      <p:sp>
        <p:nvSpPr>
          <p:cNvPr id="23" name="Shape 21"/>
          <p:cNvSpPr/>
          <p:nvPr/>
        </p:nvSpPr>
        <p:spPr>
          <a:xfrm>
            <a:off x="274320" y="3995928"/>
            <a:ext cx="8595360" cy="822960"/>
          </a:xfrm>
          <a:prstGeom prst="rect">
            <a:avLst/>
          </a:prstGeom>
          <a:solidFill>
            <a:srgbClr val="FFFFFF"/>
          </a:solidFill>
          <a:ln w="12700">
            <a:solidFill>
              <a:srgbClr val="DEE2E6"/>
            </a:solidFill>
            <a:prstDash val="solid"/>
          </a:ln>
          <a:effectLst>
            <a:outerShdw sx="100000" sy="100000" kx="0" ky="0" algn="bl" rotWithShape="0" blurRad="76200" dist="38100" dir="8100000">
              <a:srgbClr val="000000">
                <a:alpha val="12000"/>
              </a:srgbClr>
            </a:outerShdw>
          </a:effectLst>
        </p:spPr>
      </p:sp>
      <p:sp>
        <p:nvSpPr>
          <p:cNvPr id="24" name="Shape 22"/>
          <p:cNvSpPr/>
          <p:nvPr/>
        </p:nvSpPr>
        <p:spPr>
          <a:xfrm>
            <a:off x="274320" y="3995928"/>
            <a:ext cx="73152" cy="822960"/>
          </a:xfrm>
          <a:prstGeom prst="rect">
            <a:avLst/>
          </a:prstGeom>
          <a:solidFill>
            <a:srgbClr val="1E8449"/>
          </a:solidFill>
          <a:ln w="12700">
            <a:solidFill>
              <a:srgbClr val="1E8449"/>
            </a:solidFill>
            <a:prstDash val="solid"/>
          </a:ln>
        </p:spPr>
      </p:sp>
      <p:sp>
        <p:nvSpPr>
          <p:cNvPr id="25" name="Text 23"/>
          <p:cNvSpPr/>
          <p:nvPr/>
        </p:nvSpPr>
        <p:spPr>
          <a:xfrm>
            <a:off x="411480" y="3995928"/>
            <a:ext cx="548640" cy="82296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1024128" y="4069080"/>
            <a:ext cx="4389120" cy="274320"/>
          </a:xfrm>
          <a:prstGeom prst="rect">
            <a:avLst/>
          </a:prstGeom>
          <a:noFill/>
          <a:ln/>
        </p:spPr>
        <p:txBody>
          <a:bodyPr wrap="square" rtlCol="0" anchor="ctr"/>
          <a:lstStyle/>
          <a:p>
            <a:pPr indent="0" marL="0">
              <a:buNone/>
            </a:pPr>
            <a:r>
              <a:rPr lang="en-US" sz="1300" b="1" dirty="0">
                <a:solidFill>
                  <a:srgbClr val="1E8449"/>
                </a:solidFill>
                <a:latin typeface="Calibri" pitchFamily="34" charset="0"/>
                <a:ea typeface="Calibri" pitchFamily="34" charset="-122"/>
                <a:cs typeface="Calibri" pitchFamily="34" charset="-120"/>
              </a:rPr>
              <a:t>F1-Score — 100%</a:t>
            </a:r>
            <a:endParaRPr lang="en-US" sz="1300" dirty="0"/>
          </a:p>
        </p:txBody>
      </p:sp>
      <p:sp>
        <p:nvSpPr>
          <p:cNvPr id="27" name="Text 25"/>
          <p:cNvSpPr/>
          <p:nvPr/>
        </p:nvSpPr>
        <p:spPr>
          <a:xfrm>
            <a:off x="1024128" y="4306824"/>
            <a:ext cx="4389120" cy="219456"/>
          </a:xfrm>
          <a:prstGeom prst="rect">
            <a:avLst/>
          </a:prstGeom>
          <a:noFill/>
          <a:ln/>
        </p:spPr>
        <p:txBody>
          <a:bodyPr wrap="square" rtlCol="0" anchor="ctr"/>
          <a:lstStyle/>
          <a:p>
            <a:pPr indent="0" marL="0">
              <a:buNone/>
            </a:pPr>
            <a:r>
              <a:rPr lang="en-US" sz="1150" i="1" dirty="0">
                <a:solidFill>
                  <a:srgbClr val="6C757D"/>
                </a:solidFill>
                <a:latin typeface="Calibri" pitchFamily="34" charset="0"/>
                <a:ea typeface="Calibri" pitchFamily="34" charset="-122"/>
                <a:cs typeface="Calibri" pitchFamily="34" charset="-120"/>
              </a:rPr>
              <a:t>The combined measure of precision and recall</a:t>
            </a:r>
            <a:endParaRPr lang="en-US" sz="1150" dirty="0"/>
          </a:p>
        </p:txBody>
      </p:sp>
      <p:sp>
        <p:nvSpPr>
          <p:cNvPr id="28" name="Text 26"/>
          <p:cNvSpPr/>
          <p:nvPr/>
        </p:nvSpPr>
        <p:spPr>
          <a:xfrm>
            <a:off x="5577840" y="4087368"/>
            <a:ext cx="3108960" cy="685800"/>
          </a:xfrm>
          <a:prstGeom prst="rect">
            <a:avLst/>
          </a:prstGeom>
          <a:noFill/>
          <a:ln/>
        </p:spPr>
        <p:txBody>
          <a:bodyPr wrap="square" rtlCol="0" anchor="ctr"/>
          <a:lstStyle/>
          <a:p>
            <a:pPr indent="0" marL="0">
              <a:buNone/>
            </a:pPr>
            <a:r>
              <a:rPr lang="en-US" sz="1050" dirty="0">
                <a:solidFill>
                  <a:srgbClr val="212529"/>
                </a:solidFill>
                <a:latin typeface="Calibri" pitchFamily="34" charset="0"/>
                <a:ea typeface="Calibri" pitchFamily="34" charset="-122"/>
                <a:cs typeface="Calibri" pitchFamily="34" charset="-120"/>
              </a:rPr>
              <a:t>F1-Score balances Precision and Recall into a single figure. A score of 100% indicates the model performs with both accuracy and thoroughness.</a:t>
            </a:r>
            <a:endParaRPr lang="en-US" sz="1050" dirty="0"/>
          </a:p>
        </p:txBody>
      </p:sp>
      <p:sp>
        <p:nvSpPr>
          <p:cNvPr id="29" name="Shape 27"/>
          <p:cNvSpPr/>
          <p:nvPr/>
        </p:nvSpPr>
        <p:spPr>
          <a:xfrm>
            <a:off x="0" y="5029200"/>
            <a:ext cx="9144000" cy="114300"/>
          </a:xfrm>
          <a:prstGeom prst="rect">
            <a:avLst/>
          </a:prstGeom>
          <a:solidFill>
            <a:srgbClr val="1E2761"/>
          </a:solidFill>
          <a:ln w="12700">
            <a:solidFill>
              <a:srgbClr val="1E2761"/>
            </a:solidFill>
            <a:prstDash val="solid"/>
          </a:ln>
        </p:spPr>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1E2761"/>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0392B"/>
          </a:solidFill>
          <a:ln w="12700">
            <a:solidFill>
              <a:srgbClr val="C0392B"/>
            </a:solidFill>
            <a:prstDash val="solid"/>
          </a:ln>
        </p:spPr>
      </p:sp>
      <p:sp>
        <p:nvSpPr>
          <p:cNvPr id="3" name="Text 1"/>
          <p:cNvSpPr/>
          <p:nvPr/>
        </p:nvSpPr>
        <p:spPr>
          <a:xfrm>
            <a:off x="457200" y="182880"/>
            <a:ext cx="8229600" cy="548640"/>
          </a:xfrm>
          <a:prstGeom prst="rect">
            <a:avLst/>
          </a:prstGeom>
          <a:noFill/>
          <a:ln/>
        </p:spPr>
        <p:txBody>
          <a:bodyPr wrap="square" rtlCol="0" anchor="ctr"/>
          <a:lstStyle/>
          <a:p>
            <a:pPr indent="0" marL="0">
              <a:buNone/>
            </a:pPr>
            <a:r>
              <a:rPr lang="en-US" sz="2800" b="1" dirty="0">
                <a:solidFill>
                  <a:srgbClr val="FFFFFF"/>
                </a:solidFill>
                <a:latin typeface="Georgia" pitchFamily="34" charset="0"/>
                <a:ea typeface="Georgia" pitchFamily="34" charset="-122"/>
                <a:cs typeface="Georgia" pitchFamily="34" charset="-120"/>
              </a:rPr>
              <a:t>Skills Demonstrated &amp; Portfolio Value</a:t>
            </a:r>
            <a:endParaRPr lang="en-US" sz="2800" dirty="0"/>
          </a:p>
        </p:txBody>
      </p:sp>
      <p:sp>
        <p:nvSpPr>
          <p:cNvPr id="4" name="Shape 2"/>
          <p:cNvSpPr/>
          <p:nvPr/>
        </p:nvSpPr>
        <p:spPr>
          <a:xfrm>
            <a:off x="274320" y="96012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5" name="Text 3"/>
          <p:cNvSpPr/>
          <p:nvPr/>
        </p:nvSpPr>
        <p:spPr>
          <a:xfrm>
            <a:off x="274320" y="105156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6" name="Text 4"/>
          <p:cNvSpPr/>
          <p:nvPr/>
        </p:nvSpPr>
        <p:spPr>
          <a:xfrm>
            <a:off x="365760" y="143560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Machine Learning</a:t>
            </a:r>
            <a:endParaRPr lang="en-US" sz="1200" dirty="0"/>
          </a:p>
        </p:txBody>
      </p:sp>
      <p:sp>
        <p:nvSpPr>
          <p:cNvPr id="7" name="Text 5"/>
          <p:cNvSpPr/>
          <p:nvPr/>
        </p:nvSpPr>
        <p:spPr>
          <a:xfrm>
            <a:off x="365760" y="167335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Naive Bayes, model training &amp; evaluation</a:t>
            </a:r>
            <a:endParaRPr lang="en-US" sz="1000" dirty="0"/>
          </a:p>
        </p:txBody>
      </p:sp>
      <p:sp>
        <p:nvSpPr>
          <p:cNvPr id="8" name="Shape 6"/>
          <p:cNvSpPr/>
          <p:nvPr/>
        </p:nvSpPr>
        <p:spPr>
          <a:xfrm>
            <a:off x="3154680" y="96012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9" name="Text 7"/>
          <p:cNvSpPr/>
          <p:nvPr/>
        </p:nvSpPr>
        <p:spPr>
          <a:xfrm>
            <a:off x="3154680" y="105156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0" name="Text 8"/>
          <p:cNvSpPr/>
          <p:nvPr/>
        </p:nvSpPr>
        <p:spPr>
          <a:xfrm>
            <a:off x="3246120" y="143560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NLP</a:t>
            </a:r>
            <a:endParaRPr lang="en-US" sz="1200" dirty="0"/>
          </a:p>
        </p:txBody>
      </p:sp>
      <p:sp>
        <p:nvSpPr>
          <p:cNvPr id="11" name="Text 9"/>
          <p:cNvSpPr/>
          <p:nvPr/>
        </p:nvSpPr>
        <p:spPr>
          <a:xfrm>
            <a:off x="3246120" y="167335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Text preprocessing, TF-IDF vectorisation, bigrams</a:t>
            </a:r>
            <a:endParaRPr lang="en-US" sz="1000" dirty="0"/>
          </a:p>
        </p:txBody>
      </p:sp>
      <p:sp>
        <p:nvSpPr>
          <p:cNvPr id="12" name="Shape 10"/>
          <p:cNvSpPr/>
          <p:nvPr/>
        </p:nvSpPr>
        <p:spPr>
          <a:xfrm>
            <a:off x="6035040" y="96012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13" name="Text 11"/>
          <p:cNvSpPr/>
          <p:nvPr/>
        </p:nvSpPr>
        <p:spPr>
          <a:xfrm>
            <a:off x="6035040" y="105156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4" name="Text 12"/>
          <p:cNvSpPr/>
          <p:nvPr/>
        </p:nvSpPr>
        <p:spPr>
          <a:xfrm>
            <a:off x="6126480" y="143560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Python</a:t>
            </a:r>
            <a:endParaRPr lang="en-US" sz="1200" dirty="0"/>
          </a:p>
        </p:txBody>
      </p:sp>
      <p:sp>
        <p:nvSpPr>
          <p:cNvPr id="15" name="Text 13"/>
          <p:cNvSpPr/>
          <p:nvPr/>
        </p:nvSpPr>
        <p:spPr>
          <a:xfrm>
            <a:off x="6126480" y="167335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scikit-learn, pandas, matplotlib, seaborn</a:t>
            </a:r>
            <a:endParaRPr lang="en-US" sz="1000" dirty="0"/>
          </a:p>
        </p:txBody>
      </p:sp>
      <p:sp>
        <p:nvSpPr>
          <p:cNvPr id="16" name="Shape 14"/>
          <p:cNvSpPr/>
          <p:nvPr/>
        </p:nvSpPr>
        <p:spPr>
          <a:xfrm>
            <a:off x="274320" y="219456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17" name="Text 15"/>
          <p:cNvSpPr/>
          <p:nvPr/>
        </p:nvSpPr>
        <p:spPr>
          <a:xfrm>
            <a:off x="274320" y="228600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18" name="Text 16"/>
          <p:cNvSpPr/>
          <p:nvPr/>
        </p:nvSpPr>
        <p:spPr>
          <a:xfrm>
            <a:off x="365760" y="267004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Data Analysis</a:t>
            </a:r>
            <a:endParaRPr lang="en-US" sz="1200" dirty="0"/>
          </a:p>
        </p:txBody>
      </p:sp>
      <p:sp>
        <p:nvSpPr>
          <p:cNvPr id="19" name="Text 17"/>
          <p:cNvSpPr/>
          <p:nvPr/>
        </p:nvSpPr>
        <p:spPr>
          <a:xfrm>
            <a:off x="365760" y="290779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Dataset curation, metrics, visualisation</a:t>
            </a:r>
            <a:endParaRPr lang="en-US" sz="1000" dirty="0"/>
          </a:p>
        </p:txBody>
      </p:sp>
      <p:sp>
        <p:nvSpPr>
          <p:cNvPr id="20" name="Shape 18"/>
          <p:cNvSpPr/>
          <p:nvPr/>
        </p:nvSpPr>
        <p:spPr>
          <a:xfrm>
            <a:off x="3154680" y="219456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21" name="Text 19"/>
          <p:cNvSpPr/>
          <p:nvPr/>
        </p:nvSpPr>
        <p:spPr>
          <a:xfrm>
            <a:off x="3154680" y="228600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2" name="Text 20"/>
          <p:cNvSpPr/>
          <p:nvPr/>
        </p:nvSpPr>
        <p:spPr>
          <a:xfrm>
            <a:off x="3246120" y="267004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Domain Knowledge</a:t>
            </a:r>
            <a:endParaRPr lang="en-US" sz="1200" dirty="0"/>
          </a:p>
        </p:txBody>
      </p:sp>
      <p:sp>
        <p:nvSpPr>
          <p:cNvPr id="23" name="Text 21"/>
          <p:cNvSpPr/>
          <p:nvPr/>
        </p:nvSpPr>
        <p:spPr>
          <a:xfrm>
            <a:off x="3246120" y="290779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UK market, fraud detection, real-world context</a:t>
            </a:r>
            <a:endParaRPr lang="en-US" sz="1000" dirty="0"/>
          </a:p>
        </p:txBody>
      </p:sp>
      <p:sp>
        <p:nvSpPr>
          <p:cNvPr id="24" name="Shape 22"/>
          <p:cNvSpPr/>
          <p:nvPr/>
        </p:nvSpPr>
        <p:spPr>
          <a:xfrm>
            <a:off x="6035040" y="2194560"/>
            <a:ext cx="2743200" cy="1078992"/>
          </a:xfrm>
          <a:prstGeom prst="rect">
            <a:avLst/>
          </a:prstGeom>
          <a:solidFill>
            <a:srgbClr val="FFFFFF">
              <a:alpha val="12000"/>
            </a:srgbClr>
          </a:solidFill>
          <a:ln w="12700">
            <a:solidFill>
              <a:srgbClr val="FFFFFF">
                <a:alpha val="25000"/>
              </a:srgbClr>
            </a:solidFill>
            <a:prstDash val="solid"/>
          </a:ln>
          <a:effectLst>
            <a:outerShdw sx="100000" sy="100000" kx="0" ky="0" algn="bl" rotWithShape="0" blurRad="76200" dist="38100" dir="8100000">
              <a:srgbClr val="000000">
                <a:alpha val="12000"/>
              </a:srgbClr>
            </a:outerShdw>
          </a:effectLst>
        </p:spPr>
      </p:sp>
      <p:sp>
        <p:nvSpPr>
          <p:cNvPr id="25" name="Text 23"/>
          <p:cNvSpPr/>
          <p:nvPr/>
        </p:nvSpPr>
        <p:spPr>
          <a:xfrm>
            <a:off x="6035040" y="2286000"/>
            <a:ext cx="2743200" cy="411480"/>
          </a:xfrm>
          <a:prstGeom prst="rect">
            <a:avLst/>
          </a:prstGeom>
          <a:noFill/>
          <a:ln/>
        </p:spPr>
        <p:txBody>
          <a:bodyPr wrap="square" rtlCol="0" anchor="ctr"/>
          <a:lstStyle/>
          <a:p>
            <a:pPr algn="ctr" indent="0" marL="0">
              <a:buNone/>
            </a:pPr>
            <a:r>
              <a:rPr lang="en-US" sz="2400" dirty="0">
                <a:solidFill>
                  <a:srgbClr val="000000"/>
                </a:solidFill>
              </a:rPr>
              <a:t>📋</a:t>
            </a:r>
            <a:endParaRPr lang="en-US" sz="2400" dirty="0"/>
          </a:p>
        </p:txBody>
      </p:sp>
      <p:sp>
        <p:nvSpPr>
          <p:cNvPr id="26" name="Text 24"/>
          <p:cNvSpPr/>
          <p:nvPr/>
        </p:nvSpPr>
        <p:spPr>
          <a:xfrm>
            <a:off x="6126480" y="2670048"/>
            <a:ext cx="2560320" cy="256032"/>
          </a:xfrm>
          <a:prstGeom prst="rect">
            <a:avLst/>
          </a:prstGeom>
          <a:noFill/>
          <a:ln/>
        </p:spPr>
        <p:txBody>
          <a:bodyPr wrap="square"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Evaluation</a:t>
            </a:r>
            <a:endParaRPr lang="en-US" sz="1200" dirty="0"/>
          </a:p>
        </p:txBody>
      </p:sp>
      <p:sp>
        <p:nvSpPr>
          <p:cNvPr id="27" name="Text 25"/>
          <p:cNvSpPr/>
          <p:nvPr/>
        </p:nvSpPr>
        <p:spPr>
          <a:xfrm>
            <a:off x="6126480" y="2907792"/>
            <a:ext cx="2560320" cy="256032"/>
          </a:xfrm>
          <a:prstGeom prst="rect">
            <a:avLst/>
          </a:prstGeom>
          <a:noFill/>
          <a:ln/>
        </p:spPr>
        <p:txBody>
          <a:bodyPr wrap="square" rtlCol="0" anchor="ctr"/>
          <a:lstStyle/>
          <a:p>
            <a:pPr algn="ctr" indent="0" marL="0">
              <a:buNone/>
            </a:pPr>
            <a:r>
              <a:rPr lang="en-US" sz="1000" dirty="0">
                <a:solidFill>
                  <a:srgbClr val="A9CCE3"/>
                </a:solidFill>
                <a:latin typeface="Calibri" pitchFamily="34" charset="0"/>
                <a:ea typeface="Calibri" pitchFamily="34" charset="-122"/>
                <a:cs typeface="Calibri" pitchFamily="34" charset="-120"/>
              </a:rPr>
              <a:t>Confusion matrix, precision, recall, F1-Score</a:t>
            </a:r>
            <a:endParaRPr lang="en-US" sz="1000" dirty="0"/>
          </a:p>
        </p:txBody>
      </p:sp>
      <p:sp>
        <p:nvSpPr>
          <p:cNvPr id="28" name="Shape 26"/>
          <p:cNvSpPr/>
          <p:nvPr/>
        </p:nvSpPr>
        <p:spPr>
          <a:xfrm>
            <a:off x="274320" y="3547872"/>
            <a:ext cx="8595360" cy="841248"/>
          </a:xfrm>
          <a:prstGeom prst="rect">
            <a:avLst/>
          </a:prstGeom>
          <a:solidFill>
            <a:srgbClr val="FFFFFF">
              <a:alpha val="10000"/>
            </a:srgbClr>
          </a:solidFill>
          <a:ln w="12700">
            <a:solidFill>
              <a:srgbClr val="FFFFFF">
                <a:alpha val="30000"/>
              </a:srgbClr>
            </a:solidFill>
            <a:prstDash val="solid"/>
          </a:ln>
        </p:spPr>
      </p:sp>
      <p:sp>
        <p:nvSpPr>
          <p:cNvPr id="29" name="Text 27"/>
          <p:cNvSpPr/>
          <p:nvPr/>
        </p:nvSpPr>
        <p:spPr>
          <a:xfrm>
            <a:off x="502920" y="3593592"/>
            <a:ext cx="3200400" cy="256032"/>
          </a:xfrm>
          <a:prstGeom prst="rect">
            <a:avLst/>
          </a:prstGeom>
          <a:noFill/>
          <a:ln/>
        </p:spPr>
        <p:txBody>
          <a:bodyPr wrap="square" rtlCol="0" anchor="ctr"/>
          <a:lstStyle/>
          <a:p>
            <a:pPr indent="0" marL="0">
              <a:buNone/>
            </a:pPr>
            <a:r>
              <a:rPr lang="en-US" sz="1200" b="1" dirty="0">
                <a:solidFill>
                  <a:srgbClr val="A9CCE3"/>
                </a:solidFill>
                <a:latin typeface="Calibri" pitchFamily="34" charset="0"/>
                <a:ea typeface="Calibri" pitchFamily="34" charset="-122"/>
                <a:cs typeface="Calibri" pitchFamily="34" charset="-120"/>
              </a:rPr>
              <a:t>Suggested Portfolio / CV Description:</a:t>
            </a:r>
            <a:endParaRPr lang="en-US" sz="1200" dirty="0"/>
          </a:p>
        </p:txBody>
      </p:sp>
      <p:sp>
        <p:nvSpPr>
          <p:cNvPr id="30" name="Text 28"/>
          <p:cNvSpPr/>
          <p:nvPr/>
        </p:nvSpPr>
        <p:spPr>
          <a:xfrm>
            <a:off x="502920" y="3822192"/>
            <a:ext cx="8229600" cy="475488"/>
          </a:xfrm>
          <a:prstGeom prst="rect">
            <a:avLst/>
          </a:prstGeom>
          <a:noFill/>
          <a:ln/>
        </p:spPr>
        <p:txBody>
          <a:bodyPr wrap="square" rtlCol="0" anchor="ctr"/>
          <a:lstStyle/>
          <a:p>
            <a:pPr indent="0" marL="0">
              <a:buNone/>
            </a:pPr>
            <a:r>
              <a:rPr lang="en-US" sz="1150" i="1" dirty="0">
                <a:solidFill>
                  <a:srgbClr val="FFFFFF"/>
                </a:solidFill>
                <a:latin typeface="Calibri" pitchFamily="34" charset="0"/>
                <a:ea typeface="Calibri" pitchFamily="34" charset="-122"/>
                <a:cs typeface="Calibri" pitchFamily="34" charset="-120"/>
              </a:rPr>
              <a:t>"Developed a UK market NLP text classifier using Naive Bayes, achieving 100% accuracy with 100% recall on fraud detection, trained on a curated dataset of 101 messages spanning 10 UK fraud categories."</a:t>
            </a:r>
            <a:endParaRPr lang="en-US" sz="1150" dirty="0"/>
          </a:p>
        </p:txBody>
      </p:sp>
      <p:sp>
        <p:nvSpPr>
          <p:cNvPr id="31" name="Shape 29"/>
          <p:cNvSpPr/>
          <p:nvPr/>
        </p:nvSpPr>
        <p:spPr>
          <a:xfrm>
            <a:off x="274320" y="4553712"/>
            <a:ext cx="1627632" cy="347472"/>
          </a:xfrm>
          <a:prstGeom prst="rect">
            <a:avLst/>
          </a:prstGeom>
          <a:solidFill>
            <a:srgbClr val="C0392B"/>
          </a:solidFill>
          <a:ln w="12700">
            <a:solidFill>
              <a:srgbClr val="C0392B"/>
            </a:solidFill>
            <a:prstDash val="solid"/>
          </a:ln>
        </p:spPr>
      </p:sp>
      <p:sp>
        <p:nvSpPr>
          <p:cNvPr id="32" name="Text 30"/>
          <p:cNvSpPr/>
          <p:nvPr/>
        </p:nvSpPr>
        <p:spPr>
          <a:xfrm>
            <a:off x="274320" y="4572000"/>
            <a:ext cx="1627632"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100%  Accuracy</a:t>
            </a:r>
            <a:endParaRPr lang="en-US" sz="1100" dirty="0"/>
          </a:p>
        </p:txBody>
      </p:sp>
      <p:sp>
        <p:nvSpPr>
          <p:cNvPr id="33" name="Shape 31"/>
          <p:cNvSpPr/>
          <p:nvPr/>
        </p:nvSpPr>
        <p:spPr>
          <a:xfrm>
            <a:off x="1993392" y="4553712"/>
            <a:ext cx="1627632" cy="347472"/>
          </a:xfrm>
          <a:prstGeom prst="rect">
            <a:avLst/>
          </a:prstGeom>
          <a:solidFill>
            <a:srgbClr val="C0392B"/>
          </a:solidFill>
          <a:ln w="12700">
            <a:solidFill>
              <a:srgbClr val="C0392B"/>
            </a:solidFill>
            <a:prstDash val="solid"/>
          </a:ln>
        </p:spPr>
      </p:sp>
      <p:sp>
        <p:nvSpPr>
          <p:cNvPr id="34" name="Text 32"/>
          <p:cNvSpPr/>
          <p:nvPr/>
        </p:nvSpPr>
        <p:spPr>
          <a:xfrm>
            <a:off x="1993392" y="4572000"/>
            <a:ext cx="1627632"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100%  Recall</a:t>
            </a:r>
            <a:endParaRPr lang="en-US" sz="1100" dirty="0"/>
          </a:p>
        </p:txBody>
      </p:sp>
      <p:sp>
        <p:nvSpPr>
          <p:cNvPr id="35" name="Shape 33"/>
          <p:cNvSpPr/>
          <p:nvPr/>
        </p:nvSpPr>
        <p:spPr>
          <a:xfrm>
            <a:off x="3712464" y="4553712"/>
            <a:ext cx="1627632" cy="347472"/>
          </a:xfrm>
          <a:prstGeom prst="rect">
            <a:avLst/>
          </a:prstGeom>
          <a:solidFill>
            <a:srgbClr val="C0392B"/>
          </a:solidFill>
          <a:ln w="12700">
            <a:solidFill>
              <a:srgbClr val="C0392B"/>
            </a:solidFill>
            <a:prstDash val="solid"/>
          </a:ln>
        </p:spPr>
      </p:sp>
      <p:sp>
        <p:nvSpPr>
          <p:cNvPr id="36" name="Text 34"/>
          <p:cNvSpPr/>
          <p:nvPr/>
        </p:nvSpPr>
        <p:spPr>
          <a:xfrm>
            <a:off x="3712464" y="4572000"/>
            <a:ext cx="1627632"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101  Messages</a:t>
            </a:r>
            <a:endParaRPr lang="en-US" sz="1100" dirty="0"/>
          </a:p>
        </p:txBody>
      </p:sp>
      <p:sp>
        <p:nvSpPr>
          <p:cNvPr id="37" name="Shape 35"/>
          <p:cNvSpPr/>
          <p:nvPr/>
        </p:nvSpPr>
        <p:spPr>
          <a:xfrm>
            <a:off x="5431536" y="4553712"/>
            <a:ext cx="1627632" cy="347472"/>
          </a:xfrm>
          <a:prstGeom prst="rect">
            <a:avLst/>
          </a:prstGeom>
          <a:solidFill>
            <a:srgbClr val="C0392B"/>
          </a:solidFill>
          <a:ln w="12700">
            <a:solidFill>
              <a:srgbClr val="C0392B"/>
            </a:solidFill>
            <a:prstDash val="solid"/>
          </a:ln>
        </p:spPr>
      </p:sp>
      <p:sp>
        <p:nvSpPr>
          <p:cNvPr id="38" name="Text 36"/>
          <p:cNvSpPr/>
          <p:nvPr/>
        </p:nvSpPr>
        <p:spPr>
          <a:xfrm>
            <a:off x="5431536" y="4572000"/>
            <a:ext cx="1627632"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10/10  New Messages</a:t>
            </a:r>
            <a:endParaRPr lang="en-US" sz="1100" dirty="0"/>
          </a:p>
        </p:txBody>
      </p:sp>
      <p:sp>
        <p:nvSpPr>
          <p:cNvPr id="39" name="Shape 37"/>
          <p:cNvSpPr/>
          <p:nvPr/>
        </p:nvSpPr>
        <p:spPr>
          <a:xfrm>
            <a:off x="7150608" y="4553712"/>
            <a:ext cx="1627632" cy="347472"/>
          </a:xfrm>
          <a:prstGeom prst="rect">
            <a:avLst/>
          </a:prstGeom>
          <a:solidFill>
            <a:srgbClr val="C0392B"/>
          </a:solidFill>
          <a:ln w="12700">
            <a:solidFill>
              <a:srgbClr val="C0392B"/>
            </a:solidFill>
            <a:prstDash val="solid"/>
          </a:ln>
        </p:spPr>
      </p:sp>
      <p:sp>
        <p:nvSpPr>
          <p:cNvPr id="40" name="Text 38"/>
          <p:cNvSpPr/>
          <p:nvPr/>
        </p:nvSpPr>
        <p:spPr>
          <a:xfrm>
            <a:off x="7150608" y="4572000"/>
            <a:ext cx="1627632" cy="310896"/>
          </a:xfrm>
          <a:prstGeom prst="rect">
            <a:avLst/>
          </a:prstGeom>
          <a:noFill/>
          <a:ln/>
        </p:spPr>
        <p:txBody>
          <a:bodyPr wrap="square"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0  Missed</a:t>
            </a:r>
            <a:endParaRPr lang="en-US" sz="1100" dirty="0"/>
          </a:p>
        </p:txBody>
      </p:sp>
      <p:sp>
        <p:nvSpPr>
          <p:cNvPr id="41" name="Shape 39"/>
          <p:cNvSpPr/>
          <p:nvPr/>
        </p:nvSpPr>
        <p:spPr>
          <a:xfrm>
            <a:off x="0" y="5029200"/>
            <a:ext cx="9144000" cy="114300"/>
          </a:xfrm>
          <a:prstGeom prst="rect">
            <a:avLst/>
          </a:prstGeom>
          <a:solidFill>
            <a:srgbClr val="C0392B"/>
          </a:solidFill>
          <a:ln w="12700">
            <a:solidFill>
              <a:srgbClr val="C0392B"/>
            </a:solidFill>
            <a:prstDash val="solid"/>
          </a:ln>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UK Scam Message Detector — Naive Bayes</dc:title>
  <dc:subject>PptxGenJS Presentation</dc:subject>
  <dc:creator>UK ML Project</dc:creator>
  <cp:lastModifiedBy>UK ML Project</cp:lastModifiedBy>
  <cp:revision>1</cp:revision>
  <dcterms:created xsi:type="dcterms:W3CDTF">2026-04-09T08:41:22Z</dcterms:created>
  <dcterms:modified xsi:type="dcterms:W3CDTF">2026-04-09T08:41:22Z</dcterms:modified>
</cp:coreProperties>
</file>